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D:\work\DataScienceCourse\SiddhantKumar_MiniProjec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work\DataScienceCourse\SiddhantKumar_MiniProjec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work\DataScienceCourse\SiddhantKumar_MiniProjec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work\DataScienceCourse\SiddhantKumar_MiniProjec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D:\work\DataScienceCourse\SiddhantKumar_MiniProject.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D:\work\DataScienceCourse\SiddhantKumar_MiniProject.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D:\work\DataScienceCourse\SiddhantKumar_MiniProject.xlsx"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[SiddhantKumar_MiniProject.xlsx]Answer1-4!PivotTable1</c:name>
    <c:fmtId val="9"/>
  </c:pivotSource>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a:t>Number of people visited for </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'Answer1-4'!$C$6</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'Answer1-4'!$B$7:$B$11</c:f>
              <c:strCache>
                <c:ptCount val="4"/>
                <c:pt idx="0">
                  <c:v>Other</c:v>
                </c:pt>
                <c:pt idx="1">
                  <c:v>Function</c:v>
                </c:pt>
                <c:pt idx="2">
                  <c:v>Vacation</c:v>
                </c:pt>
                <c:pt idx="3">
                  <c:v>Business</c:v>
                </c:pt>
              </c:strCache>
            </c:strRef>
          </c:cat>
          <c:val>
            <c:numRef>
              <c:f>'Answer1-4'!$C$7:$C$11</c:f>
              <c:numCache>
                <c:formatCode>General</c:formatCode>
                <c:ptCount val="4"/>
                <c:pt idx="0">
                  <c:v>134</c:v>
                </c:pt>
                <c:pt idx="1">
                  <c:v>292</c:v>
                </c:pt>
                <c:pt idx="2">
                  <c:v>693</c:v>
                </c:pt>
                <c:pt idx="3">
                  <c:v>828</c:v>
                </c:pt>
              </c:numCache>
            </c:numRef>
          </c:val>
          <c:extLst>
            <c:ext xmlns:c16="http://schemas.microsoft.com/office/drawing/2014/chart" uri="{C3380CC4-5D6E-409C-BE32-E72D297353CC}">
              <c16:uniqueId val="{00000000-43AC-46FD-B14E-1D92702B25D3}"/>
            </c:ext>
          </c:extLst>
        </c:ser>
        <c:dLbls>
          <c:dLblPos val="outEnd"/>
          <c:showLegendKey val="0"/>
          <c:showVal val="1"/>
          <c:showCatName val="0"/>
          <c:showSerName val="0"/>
          <c:showPercent val="0"/>
          <c:showBubbleSize val="0"/>
        </c:dLbls>
        <c:gapWidth val="100"/>
        <c:overlap val="-24"/>
        <c:axId val="1679000800"/>
        <c:axId val="1679011840"/>
      </c:barChart>
      <c:catAx>
        <c:axId val="1679000800"/>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79011840"/>
        <c:crosses val="autoZero"/>
        <c:auto val="1"/>
        <c:lblAlgn val="ctr"/>
        <c:lblOffset val="100"/>
        <c:noMultiLvlLbl val="0"/>
      </c:catAx>
      <c:valAx>
        <c:axId val="16790118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790008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[SiddhantKumar_MiniProject.xlsx]Answer1-4!PivotTable3</c:name>
    <c:fmtId val="7"/>
  </c:pivotSource>
  <c:chart>
    <c:title>
      <c:tx>
        <c:rich>
          <a:bodyPr rot="0" spcFirstLastPara="1" vertOverflow="ellipsis" vert="horz" wrap="square" anchor="ctr" anchorCtr="1"/>
          <a:lstStyle/>
          <a:p>
            <a:pPr algn="l">
              <a:defRPr sz="1800" b="1" i="0" u="none" strike="noStrike" kern="1200" baseline="0">
                <a:solidFill>
                  <a:schemeClr val="dk1">
                    <a:lumMod val="65000"/>
                    <a:lumOff val="35000"/>
                  </a:schemeClr>
                </a:solidFill>
                <a:latin typeface="+mn-lt"/>
                <a:ea typeface="+mn-ea"/>
                <a:cs typeface="+mn-cs"/>
              </a:defRPr>
            </a:pPr>
            <a:r>
              <a:rPr lang="en-US"/>
              <a:t>Division of gender in %</a:t>
            </a:r>
          </a:p>
        </c:rich>
      </c:tx>
      <c:overlay val="0"/>
      <c:spPr>
        <a:noFill/>
        <a:ln>
          <a:noFill/>
        </a:ln>
        <a:effectLst/>
      </c:spPr>
      <c:txPr>
        <a:bodyPr rot="0" spcFirstLastPara="1" vertOverflow="ellipsis" vert="horz" wrap="square" anchor="ctr" anchorCtr="1"/>
        <a:lstStyle/>
        <a:p>
          <a:pPr algn="l">
            <a:defRPr sz="1800" b="1" i="0" u="none" strike="noStrike" kern="1200" baseline="0">
              <a:solidFill>
                <a:schemeClr val="dk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a:outerShdw blurRad="317500" algn="ctr" rotWithShape="0">
              <a:prstClr val="black">
                <a:alpha val="25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1"/>
        <c:spPr>
          <a:solidFill>
            <a:schemeClr val="tx2">
              <a:lumMod val="50000"/>
            </a:schemeClr>
          </a:solidFill>
          <a:ln>
            <a:noFill/>
          </a:ln>
          <a:effectLst>
            <a:outerShdw blurRad="317500" algn="ctr" rotWithShape="0">
              <a:prstClr val="black">
                <a:alpha val="25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2"/>
        <c:spPr>
          <a:solidFill>
            <a:schemeClr val="accent1"/>
          </a:solidFill>
          <a:ln>
            <a:noFill/>
          </a:ln>
          <a:effectLst>
            <a:outerShdw blurRad="317500" algn="ctr" rotWithShape="0">
              <a:prstClr val="black">
                <a:alpha val="25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3"/>
        <c:spPr>
          <a:solidFill>
            <a:schemeClr val="accent1"/>
          </a:solidFill>
          <a:ln>
            <a:noFill/>
          </a:ln>
          <a:effectLst>
            <a:outerShdw blurRad="317500" algn="ctr" rotWithShape="0">
              <a:prstClr val="black">
                <a:alpha val="25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4"/>
        <c:spPr>
          <a:solidFill>
            <a:schemeClr val="accent1"/>
          </a:solidFill>
          <a:ln>
            <a:noFill/>
          </a:ln>
          <a:effectLst>
            <a:outerShdw blurRad="317500" algn="ctr" rotWithShape="0">
              <a:prstClr val="black">
                <a:alpha val="25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5"/>
        <c:spPr>
          <a:solidFill>
            <a:schemeClr val="tx2">
              <a:lumMod val="50000"/>
            </a:schemeClr>
          </a:solidFill>
          <a:ln>
            <a:noFill/>
          </a:ln>
          <a:effectLst>
            <a:outerShdw blurRad="317500" algn="ctr" rotWithShape="0">
              <a:prstClr val="black">
                <a:alpha val="25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6"/>
        <c:spPr>
          <a:solidFill>
            <a:schemeClr val="accent1"/>
          </a:solidFill>
          <a:ln>
            <a:noFill/>
          </a:ln>
          <a:effectLst>
            <a:outerShdw blurRad="317500" algn="ctr" rotWithShape="0">
              <a:prstClr val="black">
                <a:alpha val="25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7"/>
        <c:spPr>
          <a:solidFill>
            <a:schemeClr val="accent1"/>
          </a:solidFill>
          <a:ln>
            <a:noFill/>
          </a:ln>
          <a:effectLst>
            <a:outerShdw blurRad="317500" algn="ctr" rotWithShape="0">
              <a:prstClr val="black">
                <a:alpha val="25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8"/>
        <c:spPr>
          <a:solidFill>
            <a:schemeClr val="tx2">
              <a:lumMod val="50000"/>
            </a:schemeClr>
          </a:solidFill>
          <a:ln>
            <a:noFill/>
          </a:ln>
          <a:effectLst>
            <a:outerShdw blurRad="317500" algn="ctr" rotWithShape="0">
              <a:prstClr val="black">
                <a:alpha val="25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s>
    <c:plotArea>
      <c:layout/>
      <c:pieChart>
        <c:varyColors val="1"/>
        <c:ser>
          <c:idx val="0"/>
          <c:order val="0"/>
          <c:tx>
            <c:strRef>
              <c:f>'Answer1-4'!$C$31</c:f>
              <c:strCache>
                <c:ptCount val="1"/>
                <c:pt idx="0">
                  <c:v>Total</c:v>
                </c:pt>
              </c:strCache>
            </c:strRef>
          </c:tx>
          <c:dPt>
            <c:idx val="0"/>
            <c:bubble3D val="0"/>
            <c:spPr>
              <a:solidFill>
                <a:schemeClr val="accent1"/>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1-717F-4D61-9034-8D89AC4F1B02}"/>
              </c:ext>
            </c:extLst>
          </c:dPt>
          <c:dPt>
            <c:idx val="1"/>
            <c:bubble3D val="0"/>
            <c:spPr>
              <a:solidFill>
                <a:schemeClr val="tx2">
                  <a:lumMod val="5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3-717F-4D61-9034-8D89AC4F1B02}"/>
              </c:ext>
            </c:extLst>
          </c:dPt>
          <c:dLbls>
            <c:dLbl>
              <c:idx val="0"/>
              <c:dLblPos val="inEnd"/>
              <c:showLegendKey val="0"/>
              <c:showVal val="1"/>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717F-4D61-9034-8D89AC4F1B02}"/>
                </c:ext>
              </c:extLst>
            </c:dLbl>
            <c:dLbl>
              <c:idx val="1"/>
              <c:dLblPos val="inEnd"/>
              <c:showLegendKey val="0"/>
              <c:showVal val="1"/>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717F-4D61-9034-8D89AC4F1B02}"/>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'Answer1-4'!$B$32:$B$34</c:f>
              <c:strCache>
                <c:ptCount val="2"/>
                <c:pt idx="0">
                  <c:v>Female</c:v>
                </c:pt>
                <c:pt idx="1">
                  <c:v>Male</c:v>
                </c:pt>
              </c:strCache>
            </c:strRef>
          </c:cat>
          <c:val>
            <c:numRef>
              <c:f>'Answer1-4'!$C$32:$C$34</c:f>
              <c:numCache>
                <c:formatCode>0.00%</c:formatCode>
                <c:ptCount val="2"/>
                <c:pt idx="0">
                  <c:v>0.43708269131997946</c:v>
                </c:pt>
                <c:pt idx="1">
                  <c:v>0.56291730868002054</c:v>
                </c:pt>
              </c:numCache>
            </c:numRef>
          </c:val>
          <c:extLst>
            <c:ext xmlns:c16="http://schemas.microsoft.com/office/drawing/2014/chart" uri="{C3380CC4-5D6E-409C-BE32-E72D297353CC}">
              <c16:uniqueId val="{00000004-717F-4D61-9034-8D89AC4F1B02}"/>
            </c:ext>
          </c:extLst>
        </c:ser>
        <c:dLbls>
          <c:dLblPos val="inEnd"/>
          <c:showLegendKey val="0"/>
          <c:showVal val="0"/>
          <c:showCatName val="1"/>
          <c:showSerName val="0"/>
          <c:showPercent val="1"/>
          <c:showBubbleSize val="0"/>
          <c:showLeaderLines val="1"/>
        </c:dLbls>
        <c:firstSliceAng val="0"/>
      </c:pieChart>
      <c:spPr>
        <a:noFill/>
        <a:ln>
          <a:noFill/>
        </a:ln>
        <a:effectLst/>
      </c:spPr>
    </c:plotArea>
    <c:legend>
      <c:legendPos val="r"/>
      <c:layout>
        <c:manualLayout>
          <c:xMode val="edge"/>
          <c:yMode val="edge"/>
          <c:x val="0.70392884715258641"/>
          <c:y val="0.49489292417754654"/>
          <c:w val="0.23031162250508605"/>
          <c:h val="0.27793042951037494"/>
        </c:manualLayout>
      </c:layout>
      <c:overlay val="0"/>
      <c:spPr>
        <a:solidFill>
          <a:schemeClr val="lt1">
            <a:alpha val="78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pattFill prst="dkDnDiag">
      <a:fgClr>
        <a:schemeClr val="lt1">
          <a:lumMod val="95000"/>
        </a:schemeClr>
      </a:fgClr>
      <a:bgClr>
        <a:schemeClr val="lt1"/>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pivotSource>
    <c:name>[SiddhantKumar_MiniProject.xlsx]Answer1-4!PivotTable4</c:name>
    <c:fmtId val="15"/>
  </c:pivotSource>
  <c:chart>
    <c:title>
      <c:tx>
        <c:rich>
          <a:bodyPr rot="0" spcFirstLastPara="1" vertOverflow="ellipsis" vert="horz" wrap="square" anchor="ctr" anchorCtr="1"/>
          <a:lstStyle/>
          <a:p>
            <a:pPr>
              <a:defRPr sz="1800" b="1" i="0" u="none" strike="noStrike" kern="1200" baseline="0">
                <a:solidFill>
                  <a:schemeClr val="dk1">
                    <a:lumMod val="65000"/>
                    <a:lumOff val="35000"/>
                  </a:schemeClr>
                </a:solidFill>
                <a:latin typeface="+mn-lt"/>
                <a:ea typeface="+mn-ea"/>
                <a:cs typeface="+mn-cs"/>
              </a:defRPr>
            </a:pPr>
            <a:r>
              <a:rPr lang="en-US" sz="1600">
                <a:latin typeface="Times New Roman" panose="02020603050405020304" pitchFamily="18" charset="0"/>
                <a:cs typeface="Times New Roman" panose="02020603050405020304" pitchFamily="18" charset="0"/>
              </a:rPr>
              <a:t>Percentage</a:t>
            </a:r>
            <a:r>
              <a:rPr lang="en-US" sz="1600" baseline="0">
                <a:latin typeface="Times New Roman" panose="02020603050405020304" pitchFamily="18" charset="0"/>
                <a:cs typeface="Times New Roman" panose="02020603050405020304" pitchFamily="18" charset="0"/>
              </a:rPr>
              <a:t> of guest for Each NPS category</a:t>
            </a:r>
            <a:endParaRPr lang="en-US" sz="1600">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65000"/>
                  <a:lumOff val="35000"/>
                </a:schemeClr>
              </a:solidFill>
              <a:latin typeface="+mn-lt"/>
              <a:ea typeface="+mn-ea"/>
              <a:cs typeface="+mn-cs"/>
            </a:defRPr>
          </a:pPr>
          <a:endParaRPr lang="en-US"/>
        </a:p>
      </c:txPr>
    </c:title>
    <c:autoTitleDeleted val="0"/>
    <c:pivotFmts>
      <c:pivotFmt>
        <c:idx val="0"/>
        <c:spPr>
          <a:solidFill>
            <a:schemeClr val="accent5"/>
          </a:solidFill>
          <a:ln>
            <a:noFill/>
          </a:ln>
          <a:effectLst>
            <a:outerShdw blurRad="317500" algn="ctr" rotWithShape="0">
              <a:prstClr val="black">
                <a:alpha val="25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1"/>
        <c:spPr>
          <a:solidFill>
            <a:schemeClr val="accent5">
              <a:tint val="65000"/>
            </a:schemeClr>
          </a:solidFill>
          <a:ln>
            <a:noFill/>
          </a:ln>
          <a:effectLst>
            <a:outerShdw blurRad="317500" algn="ctr" rotWithShape="0">
              <a:prstClr val="black">
                <a:alpha val="25000"/>
              </a:prstClr>
            </a:outerShdw>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fld id="{1DDC59A8-2312-483A-8CD7-4C4AD30D4996}" type="CATEGORYNAME">
                  <a:rPr lang="en-US"/>
                  <a:pPr>
                    <a:defRPr sz="900" b="1" i="0" u="none" strike="noStrike" kern="1200" baseline="0">
                      <a:solidFill>
                        <a:schemeClr val="lt1"/>
                      </a:solidFill>
                      <a:latin typeface="+mn-lt"/>
                      <a:ea typeface="+mn-ea"/>
                      <a:cs typeface="+mn-cs"/>
                    </a:defRPr>
                  </a:pPr>
                  <a:t>[CATEGORY NAME]</a:t>
                </a:fld>
                <a:r>
                  <a:rPr lang="en-US" baseline="0"/>
                  <a:t>, </a:t>
                </a:r>
                <a:fld id="{53828E66-E472-4293-BE0B-65F47867E489}" type="VALUE">
                  <a:rPr lang="en-US" baseline="0"/>
                  <a:pPr>
                    <a:defRPr sz="900" b="1" i="0" u="none" strike="noStrike" kern="1200" baseline="0">
                      <a:solidFill>
                        <a:schemeClr val="lt1"/>
                      </a:solidFill>
                      <a:latin typeface="+mn-lt"/>
                      <a:ea typeface="+mn-ea"/>
                      <a:cs typeface="+mn-cs"/>
                    </a:defRPr>
                  </a:pPr>
                  <a:t>[VALUE]</a:t>
                </a:fld>
                <a:r>
                  <a:rPr lang="en-US" baseline="0"/>
                  <a:t>, </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15:dlblFieldTable/>
              <c15:showDataLabelsRange val="0"/>
            </c:ext>
          </c:extLst>
        </c:dLbl>
      </c:pivotFmt>
      <c:pivotFmt>
        <c:idx val="2"/>
        <c:spPr>
          <a:solidFill>
            <a:schemeClr val="accent5"/>
          </a:solidFill>
          <a:ln>
            <a:noFill/>
          </a:ln>
          <a:effectLst>
            <a:outerShdw blurRad="317500" algn="ctr" rotWithShape="0">
              <a:prstClr val="black">
                <a:alpha val="25000"/>
              </a:prstClr>
            </a:outerShdw>
          </a:effectLst>
        </c:spPr>
        <c:dLbl>
          <c:idx val="0"/>
          <c:layout>
            <c:manualLayout>
              <c:x val="-0.12503877982328826"/>
              <c:y val="-0.22142063148258631"/>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fld id="{B233123B-B380-4CE1-88A7-A90E310E5B2D}" type="CATEGORYNAME">
                  <a:rPr lang="en-US"/>
                  <a:pPr>
                    <a:defRPr sz="900" b="1" i="0" u="none" strike="noStrike" kern="1200" baseline="0">
                      <a:solidFill>
                        <a:schemeClr val="lt1"/>
                      </a:solidFill>
                      <a:latin typeface="+mn-lt"/>
                      <a:ea typeface="+mn-ea"/>
                      <a:cs typeface="+mn-cs"/>
                    </a:defRPr>
                  </a:pPr>
                  <a:t>[CATEGORY NAME]</a:t>
                </a:fld>
                <a:r>
                  <a:rPr lang="en-US" baseline="0"/>
                  <a:t>, </a:t>
                </a:r>
                <a:fld id="{80C539D9-0600-4D04-A4D0-94EBC6D50889}" type="VALUE">
                  <a:rPr lang="en-US" baseline="0"/>
                  <a:pPr>
                    <a:defRPr sz="900" b="1" i="0" u="none" strike="noStrike" kern="1200" baseline="0">
                      <a:solidFill>
                        <a:schemeClr val="lt1"/>
                      </a:solidFill>
                      <a:latin typeface="+mn-lt"/>
                      <a:ea typeface="+mn-ea"/>
                      <a:cs typeface="+mn-cs"/>
                    </a:defRPr>
                  </a:pPr>
                  <a:t>[VALUE]</a:t>
                </a:fld>
                <a:r>
                  <a:rPr lang="en-US" baseline="0"/>
                  <a:t>, </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15:dlblFieldTable/>
              <c15:showDataLabelsRange val="0"/>
            </c:ext>
          </c:extLst>
        </c:dLbl>
      </c:pivotFmt>
      <c:pivotFmt>
        <c:idx val="3"/>
        <c:spPr>
          <a:solidFill>
            <a:schemeClr val="accent5">
              <a:shade val="65000"/>
            </a:schemeClr>
          </a:solidFill>
          <a:ln>
            <a:noFill/>
          </a:ln>
          <a:effectLst>
            <a:outerShdw blurRad="317500" algn="ctr" rotWithShape="0">
              <a:prstClr val="black">
                <a:alpha val="25000"/>
              </a:prstClr>
            </a:outerShdw>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fld id="{2397D186-1BA3-40E8-AFBF-B584A8DA9B6A}" type="CATEGORYNAME">
                  <a:rPr lang="en-US"/>
                  <a:pPr>
                    <a:defRPr sz="900" b="1" i="0" u="none" strike="noStrike" kern="1200" baseline="0">
                      <a:solidFill>
                        <a:schemeClr val="lt1"/>
                      </a:solidFill>
                      <a:latin typeface="+mn-lt"/>
                      <a:ea typeface="+mn-ea"/>
                      <a:cs typeface="+mn-cs"/>
                    </a:defRPr>
                  </a:pPr>
                  <a:t>[CATEGORY NAME]</a:t>
                </a:fld>
                <a:r>
                  <a:rPr lang="en-US" baseline="0"/>
                  <a:t>, </a:t>
                </a:r>
                <a:fld id="{2ED20963-B253-4EDE-B429-5CBCA87A2DCD}" type="VALUE">
                  <a:rPr lang="en-US" baseline="0"/>
                  <a:pPr>
                    <a:defRPr sz="900" b="1" i="0" u="none" strike="noStrike" kern="1200" baseline="0">
                      <a:solidFill>
                        <a:schemeClr val="lt1"/>
                      </a:solidFill>
                      <a:latin typeface="+mn-lt"/>
                      <a:ea typeface="+mn-ea"/>
                      <a:cs typeface="+mn-cs"/>
                    </a:defRPr>
                  </a:pPr>
                  <a:t>[VALUE]</a:t>
                </a:fld>
                <a:r>
                  <a:rPr lang="en-US" baseline="0"/>
                  <a:t>, </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15:dlblFieldTable/>
              <c15:showDataLabelsRange val="0"/>
            </c:ext>
          </c:extLst>
        </c:dLbl>
      </c:pivotFmt>
      <c:pivotFmt>
        <c:idx val="4"/>
        <c:spPr>
          <a:solidFill>
            <a:schemeClr val="accent5"/>
          </a:solidFill>
          <a:ln>
            <a:noFill/>
          </a:ln>
          <a:effectLst>
            <a:outerShdw blurRad="317500" algn="ctr" rotWithShape="0">
              <a:prstClr val="black">
                <a:alpha val="25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5"/>
        <c:spPr>
          <a:solidFill>
            <a:schemeClr val="accent5">
              <a:tint val="65000"/>
            </a:schemeClr>
          </a:solidFill>
          <a:ln>
            <a:noFill/>
          </a:ln>
          <a:effectLst>
            <a:outerShdw blurRad="317500" algn="ctr" rotWithShape="0">
              <a:prstClr val="black">
                <a:alpha val="25000"/>
              </a:prstClr>
            </a:outerShdw>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fld id="{1DDC59A8-2312-483A-8CD7-4C4AD30D4996}" type="CATEGORYNAME">
                  <a:rPr lang="en-US"/>
                  <a:pPr>
                    <a:defRPr sz="900" b="1" i="0" u="none" strike="noStrike" kern="1200" baseline="0">
                      <a:solidFill>
                        <a:schemeClr val="lt1"/>
                      </a:solidFill>
                      <a:latin typeface="+mn-lt"/>
                      <a:ea typeface="+mn-ea"/>
                      <a:cs typeface="+mn-cs"/>
                    </a:defRPr>
                  </a:pPr>
                  <a:t>[CATEGORY NAME]</a:t>
                </a:fld>
                <a:r>
                  <a:rPr lang="en-US" baseline="0"/>
                  <a:t>, </a:t>
                </a:r>
                <a:fld id="{53828E66-E472-4293-BE0B-65F47867E489}" type="VALUE">
                  <a:rPr lang="en-US" baseline="0"/>
                  <a:pPr>
                    <a:defRPr sz="900" b="1" i="0" u="none" strike="noStrike" kern="1200" baseline="0">
                      <a:solidFill>
                        <a:schemeClr val="lt1"/>
                      </a:solidFill>
                      <a:latin typeface="+mn-lt"/>
                      <a:ea typeface="+mn-ea"/>
                      <a:cs typeface="+mn-cs"/>
                    </a:defRPr>
                  </a:pPr>
                  <a:t>[VALUE]</a:t>
                </a:fld>
                <a:r>
                  <a:rPr lang="en-US" baseline="0"/>
                  <a:t>, </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15:dlblFieldTable/>
              <c15:showDataLabelsRange val="0"/>
            </c:ext>
          </c:extLst>
        </c:dLbl>
      </c:pivotFmt>
      <c:pivotFmt>
        <c:idx val="6"/>
        <c:spPr>
          <a:solidFill>
            <a:schemeClr val="accent5"/>
          </a:solidFill>
          <a:ln>
            <a:noFill/>
          </a:ln>
          <a:effectLst>
            <a:outerShdw blurRad="317500" algn="ctr" rotWithShape="0">
              <a:prstClr val="black">
                <a:alpha val="25000"/>
              </a:prstClr>
            </a:outerShdw>
          </a:effectLst>
        </c:spPr>
        <c:dLbl>
          <c:idx val="0"/>
          <c:layout>
            <c:manualLayout>
              <c:x val="-0.12503877982328826"/>
              <c:y val="-0.22142063148258631"/>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fld id="{B233123B-B380-4CE1-88A7-A90E310E5B2D}" type="CATEGORYNAME">
                  <a:rPr lang="en-US"/>
                  <a:pPr>
                    <a:defRPr sz="900" b="1" i="0" u="none" strike="noStrike" kern="1200" baseline="0">
                      <a:solidFill>
                        <a:schemeClr val="lt1"/>
                      </a:solidFill>
                      <a:latin typeface="+mn-lt"/>
                      <a:ea typeface="+mn-ea"/>
                      <a:cs typeface="+mn-cs"/>
                    </a:defRPr>
                  </a:pPr>
                  <a:t>[CATEGORY NAME]</a:t>
                </a:fld>
                <a:r>
                  <a:rPr lang="en-US" baseline="0"/>
                  <a:t>, </a:t>
                </a:r>
                <a:fld id="{80C539D9-0600-4D04-A4D0-94EBC6D50889}" type="VALUE">
                  <a:rPr lang="en-US" baseline="0"/>
                  <a:pPr>
                    <a:defRPr sz="900" b="1" i="0" u="none" strike="noStrike" kern="1200" baseline="0">
                      <a:solidFill>
                        <a:schemeClr val="lt1"/>
                      </a:solidFill>
                      <a:latin typeface="+mn-lt"/>
                      <a:ea typeface="+mn-ea"/>
                      <a:cs typeface="+mn-cs"/>
                    </a:defRPr>
                  </a:pPr>
                  <a:t>[VALUE]</a:t>
                </a:fld>
                <a:r>
                  <a:rPr lang="en-US" baseline="0"/>
                  <a:t>, </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15:dlblFieldTable/>
              <c15:showDataLabelsRange val="0"/>
            </c:ext>
          </c:extLst>
        </c:dLbl>
      </c:pivotFmt>
      <c:pivotFmt>
        <c:idx val="7"/>
        <c:spPr>
          <a:solidFill>
            <a:schemeClr val="accent5">
              <a:shade val="65000"/>
            </a:schemeClr>
          </a:solidFill>
          <a:ln>
            <a:noFill/>
          </a:ln>
          <a:effectLst>
            <a:outerShdw blurRad="317500" algn="ctr" rotWithShape="0">
              <a:prstClr val="black">
                <a:alpha val="25000"/>
              </a:prstClr>
            </a:outerShdw>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fld id="{2397D186-1BA3-40E8-AFBF-B584A8DA9B6A}" type="CATEGORYNAME">
                  <a:rPr lang="en-US"/>
                  <a:pPr>
                    <a:defRPr sz="900" b="1" i="0" u="none" strike="noStrike" kern="1200" baseline="0">
                      <a:solidFill>
                        <a:schemeClr val="lt1"/>
                      </a:solidFill>
                      <a:latin typeface="+mn-lt"/>
                      <a:ea typeface="+mn-ea"/>
                      <a:cs typeface="+mn-cs"/>
                    </a:defRPr>
                  </a:pPr>
                  <a:t>[CATEGORY NAME]</a:t>
                </a:fld>
                <a:r>
                  <a:rPr lang="en-US" baseline="0"/>
                  <a:t>, </a:t>
                </a:r>
                <a:fld id="{2ED20963-B253-4EDE-B429-5CBCA87A2DCD}" type="VALUE">
                  <a:rPr lang="en-US" baseline="0"/>
                  <a:pPr>
                    <a:defRPr sz="900" b="1" i="0" u="none" strike="noStrike" kern="1200" baseline="0">
                      <a:solidFill>
                        <a:schemeClr val="lt1"/>
                      </a:solidFill>
                      <a:latin typeface="+mn-lt"/>
                      <a:ea typeface="+mn-ea"/>
                      <a:cs typeface="+mn-cs"/>
                    </a:defRPr>
                  </a:pPr>
                  <a:t>[VALUE]</a:t>
                </a:fld>
                <a:r>
                  <a:rPr lang="en-US" baseline="0"/>
                  <a:t>, </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15:dlblFieldTable/>
              <c15:showDataLabelsRange val="0"/>
            </c:ext>
          </c:extLst>
        </c:dLbl>
      </c:pivotFmt>
      <c:pivotFmt>
        <c:idx val="8"/>
        <c:spPr>
          <a:solidFill>
            <a:schemeClr val="accent5"/>
          </a:solidFill>
          <a:ln>
            <a:noFill/>
          </a:ln>
          <a:effectLst>
            <a:outerShdw blurRad="317500" algn="ctr" rotWithShape="0">
              <a:prstClr val="black">
                <a:alpha val="25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9"/>
        <c:spPr>
          <a:solidFill>
            <a:schemeClr val="accent5">
              <a:tint val="65000"/>
            </a:schemeClr>
          </a:solidFill>
          <a:ln>
            <a:noFill/>
          </a:ln>
          <a:effectLst>
            <a:outerShdw blurRad="317500" algn="ctr" rotWithShape="0">
              <a:prstClr val="black">
                <a:alpha val="25000"/>
              </a:prstClr>
            </a:outerShdw>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fld id="{1DDC59A8-2312-483A-8CD7-4C4AD30D4996}" type="CATEGORYNAME">
                  <a:rPr lang="en-US"/>
                  <a:pPr>
                    <a:defRPr sz="900" b="1" i="0" u="none" strike="noStrike" kern="1200" baseline="0">
                      <a:solidFill>
                        <a:schemeClr val="lt1"/>
                      </a:solidFill>
                      <a:latin typeface="+mn-lt"/>
                      <a:ea typeface="+mn-ea"/>
                      <a:cs typeface="+mn-cs"/>
                    </a:defRPr>
                  </a:pPr>
                  <a:t>[CATEGORY NAME]</a:t>
                </a:fld>
                <a:r>
                  <a:rPr lang="en-US" baseline="0"/>
                  <a:t>, </a:t>
                </a:r>
                <a:fld id="{53828E66-E472-4293-BE0B-65F47867E489}" type="VALUE">
                  <a:rPr lang="en-US" baseline="0"/>
                  <a:pPr>
                    <a:defRPr sz="900" b="1" i="0" u="none" strike="noStrike" kern="1200" baseline="0">
                      <a:solidFill>
                        <a:schemeClr val="lt1"/>
                      </a:solidFill>
                      <a:latin typeface="+mn-lt"/>
                      <a:ea typeface="+mn-ea"/>
                      <a:cs typeface="+mn-cs"/>
                    </a:defRPr>
                  </a:pPr>
                  <a:t>[VALUE]</a:t>
                </a:fld>
                <a:r>
                  <a:rPr lang="en-US" baseline="0"/>
                  <a:t>, </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15:dlblFieldTable/>
              <c15:showDataLabelsRange val="0"/>
            </c:ext>
          </c:extLst>
        </c:dLbl>
      </c:pivotFmt>
      <c:pivotFmt>
        <c:idx val="10"/>
        <c:spPr>
          <a:solidFill>
            <a:schemeClr val="accent5"/>
          </a:solidFill>
          <a:ln>
            <a:noFill/>
          </a:ln>
          <a:effectLst>
            <a:outerShdw blurRad="317500" algn="ctr" rotWithShape="0">
              <a:prstClr val="black">
                <a:alpha val="25000"/>
              </a:prstClr>
            </a:outerShdw>
          </a:effectLst>
        </c:spPr>
        <c:dLbl>
          <c:idx val="0"/>
          <c:layout>
            <c:manualLayout>
              <c:x val="-0.12503877982328826"/>
              <c:y val="-0.22142063148258631"/>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fld id="{B233123B-B380-4CE1-88A7-A90E310E5B2D}" type="CATEGORYNAME">
                  <a:rPr lang="en-US"/>
                  <a:pPr>
                    <a:defRPr sz="900" b="1" i="0" u="none" strike="noStrike" kern="1200" baseline="0">
                      <a:solidFill>
                        <a:schemeClr val="lt1"/>
                      </a:solidFill>
                      <a:latin typeface="+mn-lt"/>
                      <a:ea typeface="+mn-ea"/>
                      <a:cs typeface="+mn-cs"/>
                    </a:defRPr>
                  </a:pPr>
                  <a:t>[CATEGORY NAME]</a:t>
                </a:fld>
                <a:r>
                  <a:rPr lang="en-US" baseline="0"/>
                  <a:t>, </a:t>
                </a:r>
                <a:fld id="{80C539D9-0600-4D04-A4D0-94EBC6D50889}" type="VALUE">
                  <a:rPr lang="en-US" baseline="0"/>
                  <a:pPr>
                    <a:defRPr sz="900" b="1" i="0" u="none" strike="noStrike" kern="1200" baseline="0">
                      <a:solidFill>
                        <a:schemeClr val="lt1"/>
                      </a:solidFill>
                      <a:latin typeface="+mn-lt"/>
                      <a:ea typeface="+mn-ea"/>
                      <a:cs typeface="+mn-cs"/>
                    </a:defRPr>
                  </a:pPr>
                  <a:t>[VALUE]</a:t>
                </a:fld>
                <a:r>
                  <a:rPr lang="en-US" baseline="0"/>
                  <a:t>, </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15:dlblFieldTable/>
              <c15:showDataLabelsRange val="0"/>
            </c:ext>
          </c:extLst>
        </c:dLbl>
      </c:pivotFmt>
      <c:pivotFmt>
        <c:idx val="11"/>
        <c:spPr>
          <a:solidFill>
            <a:schemeClr val="accent5">
              <a:shade val="65000"/>
            </a:schemeClr>
          </a:solidFill>
          <a:ln>
            <a:noFill/>
          </a:ln>
          <a:effectLst>
            <a:outerShdw blurRad="317500" algn="ctr" rotWithShape="0">
              <a:prstClr val="black">
                <a:alpha val="25000"/>
              </a:prstClr>
            </a:outerShdw>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fld id="{2397D186-1BA3-40E8-AFBF-B584A8DA9B6A}" type="CATEGORYNAME">
                  <a:rPr lang="en-US"/>
                  <a:pPr>
                    <a:defRPr sz="900" b="1" i="0" u="none" strike="noStrike" kern="1200" baseline="0">
                      <a:solidFill>
                        <a:schemeClr val="lt1"/>
                      </a:solidFill>
                      <a:latin typeface="+mn-lt"/>
                      <a:ea typeface="+mn-ea"/>
                      <a:cs typeface="+mn-cs"/>
                    </a:defRPr>
                  </a:pPr>
                  <a:t>[CATEGORY NAME]</a:t>
                </a:fld>
                <a:r>
                  <a:rPr lang="en-US" baseline="0"/>
                  <a:t>, </a:t>
                </a:r>
                <a:fld id="{2ED20963-B253-4EDE-B429-5CBCA87A2DCD}" type="VALUE">
                  <a:rPr lang="en-US" baseline="0"/>
                  <a:pPr>
                    <a:defRPr sz="900" b="1" i="0" u="none" strike="noStrike" kern="1200" baseline="0">
                      <a:solidFill>
                        <a:schemeClr val="lt1"/>
                      </a:solidFill>
                      <a:latin typeface="+mn-lt"/>
                      <a:ea typeface="+mn-ea"/>
                      <a:cs typeface="+mn-cs"/>
                    </a:defRPr>
                  </a:pPr>
                  <a:t>[VALUE]</a:t>
                </a:fld>
                <a:r>
                  <a:rPr lang="en-US" baseline="0"/>
                  <a:t>, </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15:dlblFieldTable/>
              <c15:showDataLabelsRange val="0"/>
            </c:ext>
          </c:extLst>
        </c:dLbl>
      </c:pivotFmt>
    </c:pivotFmts>
    <c:plotArea>
      <c:layout/>
      <c:pieChart>
        <c:varyColors val="1"/>
        <c:ser>
          <c:idx val="0"/>
          <c:order val="0"/>
          <c:tx>
            <c:strRef>
              <c:f>'Answer1-4'!$C$48</c:f>
              <c:strCache>
                <c:ptCount val="1"/>
                <c:pt idx="0">
                  <c:v>Total</c:v>
                </c:pt>
              </c:strCache>
            </c:strRef>
          </c:tx>
          <c:dPt>
            <c:idx val="0"/>
            <c:bubble3D val="0"/>
            <c:spPr>
              <a:solidFill>
                <a:schemeClr val="accent5">
                  <a:tint val="65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1-AA90-4FF9-B706-1353735BC80F}"/>
              </c:ext>
            </c:extLst>
          </c:dPt>
          <c:dPt>
            <c:idx val="1"/>
            <c:bubble3D val="0"/>
            <c:spPr>
              <a:solidFill>
                <a:schemeClr val="accent5"/>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3-AA90-4FF9-B706-1353735BC80F}"/>
              </c:ext>
            </c:extLst>
          </c:dPt>
          <c:dPt>
            <c:idx val="2"/>
            <c:bubble3D val="0"/>
            <c:spPr>
              <a:solidFill>
                <a:schemeClr val="accent5">
                  <a:shade val="65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5-AA90-4FF9-B706-1353735BC80F}"/>
              </c:ext>
            </c:extLst>
          </c:dPt>
          <c:dLbls>
            <c:dLbl>
              <c:idx val="0"/>
              <c:tx>
                <c:rich>
                  <a:bodyPr/>
                  <a:lstStyle/>
                  <a:p>
                    <a:fld id="{1DDC59A8-2312-483A-8CD7-4C4AD30D4996}" type="CATEGORYNAME">
                      <a:rPr lang="en-US"/>
                      <a:pPr/>
                      <a:t>[CATEGORY NAME]</a:t>
                    </a:fld>
                    <a:r>
                      <a:rPr lang="en-US" baseline="0"/>
                      <a:t>, </a:t>
                    </a:r>
                    <a:fld id="{53828E66-E472-4293-BE0B-65F47867E489}" type="VALUE">
                      <a:rPr lang="en-US" baseline="0"/>
                      <a:pPr/>
                      <a:t>[VALUE]</a:t>
                    </a:fld>
                    <a:r>
                      <a:rPr lang="en-US" baseline="0"/>
                      <a:t>, </a:t>
                    </a:r>
                  </a:p>
                </c:rich>
              </c:tx>
              <c:dLblPos val="inEnd"/>
              <c:showLegendKey val="0"/>
              <c:showVal val="1"/>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AA90-4FF9-B706-1353735BC80F}"/>
                </c:ext>
              </c:extLst>
            </c:dLbl>
            <c:dLbl>
              <c:idx val="1"/>
              <c:layout>
                <c:manualLayout>
                  <c:x val="-0.12503877982328826"/>
                  <c:y val="-0.22142063148258631"/>
                </c:manualLayout>
              </c:layout>
              <c:tx>
                <c:rich>
                  <a:bodyPr/>
                  <a:lstStyle/>
                  <a:p>
                    <a:fld id="{B233123B-B380-4CE1-88A7-A90E310E5B2D}" type="CATEGORYNAME">
                      <a:rPr lang="en-US"/>
                      <a:pPr/>
                      <a:t>[CATEGORY NAME]</a:t>
                    </a:fld>
                    <a:r>
                      <a:rPr lang="en-US" baseline="0"/>
                      <a:t>, </a:t>
                    </a:r>
                    <a:fld id="{80C539D9-0600-4D04-A4D0-94EBC6D50889}" type="VALUE">
                      <a:rPr lang="en-US" baseline="0"/>
                      <a:pPr/>
                      <a:t>[VALUE]</a:t>
                    </a:fld>
                    <a:r>
                      <a:rPr lang="en-US" baseline="0"/>
                      <a:t>, </a:t>
                    </a:r>
                  </a:p>
                </c:rich>
              </c:tx>
              <c:dLblPos val="bestFit"/>
              <c:showLegendKey val="0"/>
              <c:showVal val="1"/>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AA90-4FF9-B706-1353735BC80F}"/>
                </c:ext>
              </c:extLst>
            </c:dLbl>
            <c:dLbl>
              <c:idx val="2"/>
              <c:tx>
                <c:rich>
                  <a:bodyPr/>
                  <a:lstStyle/>
                  <a:p>
                    <a:fld id="{2397D186-1BA3-40E8-AFBF-B584A8DA9B6A}" type="CATEGORYNAME">
                      <a:rPr lang="en-US"/>
                      <a:pPr/>
                      <a:t>[CATEGORY NAME]</a:t>
                    </a:fld>
                    <a:r>
                      <a:rPr lang="en-US" baseline="0"/>
                      <a:t>, </a:t>
                    </a:r>
                    <a:fld id="{2ED20963-B253-4EDE-B429-5CBCA87A2DCD}" type="VALUE">
                      <a:rPr lang="en-US" baseline="0"/>
                      <a:pPr/>
                      <a:t>[VALUE]</a:t>
                    </a:fld>
                    <a:r>
                      <a:rPr lang="en-US" baseline="0"/>
                      <a:t>, </a:t>
                    </a:r>
                  </a:p>
                </c:rich>
              </c:tx>
              <c:dLblPos val="inEnd"/>
              <c:showLegendKey val="0"/>
              <c:showVal val="1"/>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AA90-4FF9-B706-1353735BC80F}"/>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1"/>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'Answer1-4'!$B$49:$B$52</c:f>
              <c:strCache>
                <c:ptCount val="3"/>
                <c:pt idx="0">
                  <c:v>Detractors</c:v>
                </c:pt>
                <c:pt idx="1">
                  <c:v>Passives</c:v>
                </c:pt>
                <c:pt idx="2">
                  <c:v>Promoters</c:v>
                </c:pt>
              </c:strCache>
            </c:strRef>
          </c:cat>
          <c:val>
            <c:numRef>
              <c:f>'Answer1-4'!$C$49:$C$52</c:f>
              <c:numCache>
                <c:formatCode>0.00%</c:formatCode>
                <c:ptCount val="3"/>
                <c:pt idx="0">
                  <c:v>0.25629173086800205</c:v>
                </c:pt>
                <c:pt idx="1">
                  <c:v>0.26861838726245507</c:v>
                </c:pt>
                <c:pt idx="2">
                  <c:v>0.47508988186954287</c:v>
                </c:pt>
              </c:numCache>
            </c:numRef>
          </c:val>
          <c:extLst>
            <c:ext xmlns:c16="http://schemas.microsoft.com/office/drawing/2014/chart" uri="{C3380CC4-5D6E-409C-BE32-E72D297353CC}">
              <c16:uniqueId val="{00000006-AA90-4FF9-B706-1353735BC80F}"/>
            </c:ext>
          </c:extLst>
        </c:ser>
        <c:dLbls>
          <c:dLblPos val="inEnd"/>
          <c:showLegendKey val="0"/>
          <c:showVal val="0"/>
          <c:showCatName val="1"/>
          <c:showSerName val="0"/>
          <c:showPercent val="1"/>
          <c:showBubbleSize val="0"/>
          <c:showLeaderLines val="1"/>
        </c:dLbls>
        <c:firstSliceAng val="0"/>
      </c:pieChart>
      <c:spPr>
        <a:noFill/>
        <a:ln>
          <a:noFill/>
        </a:ln>
        <a:effectLst/>
      </c:spPr>
    </c:plotArea>
    <c:legend>
      <c:legendPos val="r"/>
      <c:layout>
        <c:manualLayout>
          <c:xMode val="edge"/>
          <c:yMode val="edge"/>
          <c:x val="0.70831359967407637"/>
          <c:y val="0.43778188267795698"/>
          <c:w val="0.20372775189061187"/>
          <c:h val="0.33816399257848578"/>
        </c:manualLayout>
      </c:layout>
      <c:overlay val="0"/>
      <c:spPr>
        <a:solidFill>
          <a:schemeClr val="lt1">
            <a:alpha val="78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pattFill prst="dkDnDiag">
      <a:fgClr>
        <a:schemeClr val="lt1">
          <a:lumMod val="95000"/>
        </a:schemeClr>
      </a:fgClr>
      <a:bgClr>
        <a:schemeClr val="lt1"/>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[SiddhantKumar_MiniProject.xlsx]Answer1-4!PivotTable7</c:name>
    <c:fmtId val="10"/>
  </c:pivotSource>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dirty="0"/>
              <a:t>Comparison of overall experience by guests</a:t>
            </a:r>
          </a:p>
        </c:rich>
      </c:tx>
      <c:layout>
        <c:manualLayout>
          <c:xMode val="edge"/>
          <c:yMode val="edge"/>
          <c:x val="0.10979620194534506"/>
          <c:y val="4.862573305038588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'Answer1-4'!$C$73</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'Answer1-4'!$B$74:$B$78</c:f>
              <c:strCache>
                <c:ptCount val="4"/>
                <c:pt idx="0">
                  <c:v>Room</c:v>
                </c:pt>
                <c:pt idx="1">
                  <c:v>Restaurant</c:v>
                </c:pt>
                <c:pt idx="2">
                  <c:v>Staff</c:v>
                </c:pt>
                <c:pt idx="3">
                  <c:v>Facility</c:v>
                </c:pt>
              </c:strCache>
            </c:strRef>
          </c:cat>
          <c:val>
            <c:numRef>
              <c:f>'Answer1-4'!$C$74:$C$78</c:f>
              <c:numCache>
                <c:formatCode>General</c:formatCode>
                <c:ptCount val="4"/>
                <c:pt idx="0">
                  <c:v>3.555327868852459</c:v>
                </c:pt>
                <c:pt idx="1">
                  <c:v>3.5823045267489713</c:v>
                </c:pt>
                <c:pt idx="2">
                  <c:v>3.625</c:v>
                </c:pt>
                <c:pt idx="3">
                  <c:v>3.645360824742268</c:v>
                </c:pt>
              </c:numCache>
            </c:numRef>
          </c:val>
          <c:extLst>
            <c:ext xmlns:c16="http://schemas.microsoft.com/office/drawing/2014/chart" uri="{C3380CC4-5D6E-409C-BE32-E72D297353CC}">
              <c16:uniqueId val="{00000000-4A74-4C78-A060-7A7ECAE5A504}"/>
            </c:ext>
          </c:extLst>
        </c:ser>
        <c:dLbls>
          <c:showLegendKey val="0"/>
          <c:showVal val="0"/>
          <c:showCatName val="0"/>
          <c:showSerName val="0"/>
          <c:showPercent val="0"/>
          <c:showBubbleSize val="0"/>
        </c:dLbls>
        <c:gapWidth val="115"/>
        <c:overlap val="-20"/>
        <c:axId val="1663952272"/>
        <c:axId val="1663950352"/>
      </c:barChart>
      <c:catAx>
        <c:axId val="1663952272"/>
        <c:scaling>
          <c:orientation val="minMax"/>
        </c:scaling>
        <c:delete val="0"/>
        <c:axPos val="l"/>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3950352"/>
        <c:crosses val="autoZero"/>
        <c:auto val="1"/>
        <c:lblAlgn val="ctr"/>
        <c:lblOffset val="100"/>
        <c:noMultiLvlLbl val="0"/>
      </c:catAx>
      <c:valAx>
        <c:axId val="16639503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395227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[SiddhantKumar_MiniProject.xlsx]Answer8-10!PivotTable1</c:name>
    <c:fmtId val="13"/>
  </c:pivotSource>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dirty="0"/>
              <a:t>Average NPS rating for</a:t>
            </a:r>
            <a:r>
              <a:rPr lang="en-US" baseline="0" dirty="0"/>
              <a:t> each</a:t>
            </a:r>
            <a:r>
              <a:rPr lang="en-US" dirty="0"/>
              <a:t> purposes</a:t>
            </a:r>
          </a:p>
        </c:rich>
      </c:tx>
      <c:layout>
        <c:manualLayout>
          <c:xMode val="edge"/>
          <c:yMode val="edge"/>
          <c:x val="0.13366604909680407"/>
          <c:y val="3.1407351026282032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'Answer8-10'!$D$11</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'Answer8-10'!$C$12:$C$16</c:f>
              <c:strCache>
                <c:ptCount val="4"/>
                <c:pt idx="0">
                  <c:v>Function</c:v>
                </c:pt>
                <c:pt idx="1">
                  <c:v>Business</c:v>
                </c:pt>
                <c:pt idx="2">
                  <c:v>Vacation</c:v>
                </c:pt>
                <c:pt idx="3">
                  <c:v>Other</c:v>
                </c:pt>
              </c:strCache>
            </c:strRef>
          </c:cat>
          <c:val>
            <c:numRef>
              <c:f>'Answer8-10'!$D$12:$D$16</c:f>
              <c:numCache>
                <c:formatCode>General</c:formatCode>
                <c:ptCount val="4"/>
                <c:pt idx="0">
                  <c:v>7.5205479452054798</c:v>
                </c:pt>
                <c:pt idx="1">
                  <c:v>7.5990338164251208</c:v>
                </c:pt>
                <c:pt idx="2">
                  <c:v>7.6493506493506498</c:v>
                </c:pt>
                <c:pt idx="3">
                  <c:v>7.6791044776119399</c:v>
                </c:pt>
              </c:numCache>
            </c:numRef>
          </c:val>
          <c:extLst>
            <c:ext xmlns:c16="http://schemas.microsoft.com/office/drawing/2014/chart" uri="{C3380CC4-5D6E-409C-BE32-E72D297353CC}">
              <c16:uniqueId val="{00000000-B8BD-40CF-B537-2F85C3E500EC}"/>
            </c:ext>
          </c:extLst>
        </c:ser>
        <c:dLbls>
          <c:showLegendKey val="0"/>
          <c:showVal val="0"/>
          <c:showCatName val="0"/>
          <c:showSerName val="0"/>
          <c:showPercent val="0"/>
          <c:showBubbleSize val="0"/>
        </c:dLbls>
        <c:gapWidth val="100"/>
        <c:overlap val="-24"/>
        <c:axId val="1191337248"/>
        <c:axId val="1191290688"/>
      </c:barChart>
      <c:catAx>
        <c:axId val="1191337248"/>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1290688"/>
        <c:crosses val="autoZero"/>
        <c:auto val="1"/>
        <c:lblAlgn val="ctr"/>
        <c:lblOffset val="100"/>
        <c:noMultiLvlLbl val="0"/>
      </c:catAx>
      <c:valAx>
        <c:axId val="11912906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13372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[SiddhantKumar_MiniProject.xlsx]Answer8-10!PivotTable2</c:name>
    <c:fmtId val="12"/>
  </c:pivotSource>
  <c:chart>
    <c:autoTitleDeleted val="1"/>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4110870516185478"/>
          <c:y val="0.1421030819900975"/>
          <c:w val="0.64493219597550311"/>
          <c:h val="0.65947681055103569"/>
        </c:manualLayout>
      </c:layout>
      <c:lineChart>
        <c:grouping val="standard"/>
        <c:varyColors val="0"/>
        <c:ser>
          <c:idx val="0"/>
          <c:order val="0"/>
          <c:tx>
            <c:strRef>
              <c:f>'Answer8-10'!$D$37</c:f>
              <c:strCache>
                <c:ptCount val="1"/>
                <c:pt idx="0">
                  <c:v>Total</c:v>
                </c:pt>
              </c:strCache>
            </c:strRef>
          </c:tx>
          <c:spPr>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trendline>
            <c:spPr>
              <a:ln w="19050" cap="rnd">
                <a:solidFill>
                  <a:schemeClr val="accent1"/>
                </a:solidFill>
              </a:ln>
              <a:effectLst/>
            </c:spPr>
            <c:trendlineType val="linear"/>
            <c:dispRSqr val="0"/>
            <c:dispEq val="0"/>
          </c:trendline>
          <c:cat>
            <c:strRef>
              <c:f>'Answer8-10'!$C$38:$C$41</c:f>
              <c:strCache>
                <c:ptCount val="3"/>
                <c:pt idx="0">
                  <c:v>2020</c:v>
                </c:pt>
                <c:pt idx="1">
                  <c:v>2021</c:v>
                </c:pt>
                <c:pt idx="2">
                  <c:v>2022</c:v>
                </c:pt>
              </c:strCache>
            </c:strRef>
          </c:cat>
          <c:val>
            <c:numRef>
              <c:f>'Answer8-10'!$D$38:$D$41</c:f>
              <c:numCache>
                <c:formatCode>General</c:formatCode>
                <c:ptCount val="3"/>
                <c:pt idx="0">
                  <c:v>7.643962848297214</c:v>
                </c:pt>
                <c:pt idx="1">
                  <c:v>7.6690962099125368</c:v>
                </c:pt>
                <c:pt idx="2">
                  <c:v>7.5105691056910571</c:v>
                </c:pt>
              </c:numCache>
            </c:numRef>
          </c:val>
          <c:smooth val="0"/>
          <c:extLst>
            <c:ext xmlns:c16="http://schemas.microsoft.com/office/drawing/2014/chart" uri="{C3380CC4-5D6E-409C-BE32-E72D297353CC}">
              <c16:uniqueId val="{00000001-C773-4A1B-8205-B3DADBB8DCEE}"/>
            </c:ext>
          </c:extLst>
        </c:ser>
        <c:dLbls>
          <c:showLegendKey val="0"/>
          <c:showVal val="0"/>
          <c:showCatName val="0"/>
          <c:showSerName val="0"/>
          <c:showPercent val="0"/>
          <c:showBubbleSize val="0"/>
        </c:dLbls>
        <c:marker val="1"/>
        <c:smooth val="0"/>
        <c:axId val="1302429856"/>
        <c:axId val="1302431296"/>
      </c:lineChart>
      <c:catAx>
        <c:axId val="1302429856"/>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02431296"/>
        <c:crosses val="autoZero"/>
        <c:auto val="1"/>
        <c:lblAlgn val="ctr"/>
        <c:lblOffset val="100"/>
        <c:noMultiLvlLbl val="0"/>
      </c:catAx>
      <c:valAx>
        <c:axId val="13024312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0242985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[SiddhantKumar_MiniProject.xlsx]Answer8-10!PivotTable3</c:name>
    <c:fmtId val="13"/>
  </c:pivotSource>
  <c:chart>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dLbl>
          <c:idx val="0"/>
          <c:showLegendKey val="0"/>
          <c:showVal val="0"/>
          <c:showCatName val="0"/>
          <c:showSerName val="0"/>
          <c:showPercent val="0"/>
          <c:showBubbleSize val="0"/>
          <c:extLst>
            <c:ext xmlns:c15="http://schemas.microsoft.com/office/drawing/2012/chart" uri="{CE6537A1-D6FC-4f65-9D91-7224C49458BB}"/>
          </c:extLst>
        </c:dLbl>
      </c:pivotFmt>
      <c:pivotFmt>
        <c:idx val="4"/>
        <c:dLbl>
          <c:idx val="0"/>
          <c:showLegendKey val="0"/>
          <c:showVal val="0"/>
          <c:showCatName val="0"/>
          <c:showSerName val="0"/>
          <c:showPercent val="0"/>
          <c:showBubbleSize val="0"/>
          <c:extLst>
            <c:ext xmlns:c15="http://schemas.microsoft.com/office/drawing/2012/chart" uri="{CE6537A1-D6FC-4f65-9D91-7224C49458BB}"/>
          </c:extLst>
        </c:dLbl>
      </c:pivotFmt>
      <c:pivotFmt>
        <c:idx val="5"/>
        <c:dLbl>
          <c:idx val="0"/>
          <c:showLegendKey val="0"/>
          <c:showVal val="0"/>
          <c:showCatName val="0"/>
          <c:showSerName val="0"/>
          <c:showPercent val="0"/>
          <c:showBubbleSize val="0"/>
          <c:extLst>
            <c:ext xmlns:c15="http://schemas.microsoft.com/office/drawing/2012/chart" uri="{CE6537A1-D6FC-4f65-9D91-7224C49458BB}"/>
          </c:extLst>
        </c:dLbl>
      </c:pivotFmt>
      <c:pivotFmt>
        <c:idx val="6"/>
        <c:dLbl>
          <c:idx val="0"/>
          <c:showLegendKey val="0"/>
          <c:showVal val="0"/>
          <c:showCatName val="0"/>
          <c:showSerName val="0"/>
          <c:showPercent val="0"/>
          <c:showBubbleSize val="0"/>
          <c:extLst>
            <c:ext xmlns:c15="http://schemas.microsoft.com/office/drawing/2012/chart" uri="{CE6537A1-D6FC-4f65-9D91-7224C49458BB}"/>
          </c:extLst>
        </c:dLbl>
      </c:pivotFmt>
      <c:pivotFmt>
        <c:idx val="7"/>
        <c:dLbl>
          <c:idx val="0"/>
          <c:showLegendKey val="0"/>
          <c:showVal val="0"/>
          <c:showCatName val="0"/>
          <c:showSerName val="0"/>
          <c:showPercent val="0"/>
          <c:showBubbleSize val="0"/>
          <c:extLst>
            <c:ext xmlns:c15="http://schemas.microsoft.com/office/drawing/2012/chart" uri="{CE6537A1-D6FC-4f65-9D91-7224C49458BB}"/>
          </c:extLst>
        </c:dLbl>
      </c:pivotFmt>
      <c:pivotFmt>
        <c:idx val="8"/>
        <c:dLbl>
          <c:idx val="0"/>
          <c:showLegendKey val="0"/>
          <c:showVal val="0"/>
          <c:showCatName val="0"/>
          <c:showSerName val="0"/>
          <c:showPercent val="0"/>
          <c:showBubbleSize val="0"/>
          <c:extLst>
            <c:ext xmlns:c15="http://schemas.microsoft.com/office/drawing/2012/chart" uri="{CE6537A1-D6FC-4f65-9D91-7224C49458BB}"/>
          </c:extLst>
        </c:dLbl>
      </c:pivotFmt>
      <c:pivotFmt>
        <c:idx val="9"/>
        <c:dLbl>
          <c:idx val="0"/>
          <c:showLegendKey val="0"/>
          <c:showVal val="0"/>
          <c:showCatName val="0"/>
          <c:showSerName val="0"/>
          <c:showPercent val="0"/>
          <c:showBubbleSize val="0"/>
          <c:extLst>
            <c:ext xmlns:c15="http://schemas.microsoft.com/office/drawing/2012/chart" uri="{CE6537A1-D6FC-4f65-9D91-7224C49458BB}"/>
          </c:extLst>
        </c:dLbl>
      </c:pivotFmt>
      <c:pivotFmt>
        <c:idx val="10"/>
        <c:dLbl>
          <c:idx val="0"/>
          <c:showLegendKey val="0"/>
          <c:showVal val="0"/>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'Answer8-10'!$C$62:$C$63</c:f>
              <c:strCache>
                <c:ptCount val="1"/>
                <c:pt idx="0">
                  <c:v>1</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'Answer8-10'!$B$64:$B$68</c:f>
              <c:strCache>
                <c:ptCount val="4"/>
                <c:pt idx="0">
                  <c:v>Restaurant</c:v>
                </c:pt>
                <c:pt idx="1">
                  <c:v>Facility</c:v>
                </c:pt>
                <c:pt idx="2">
                  <c:v>Room</c:v>
                </c:pt>
                <c:pt idx="3">
                  <c:v>Staff</c:v>
                </c:pt>
              </c:strCache>
            </c:strRef>
          </c:cat>
          <c:val>
            <c:numRef>
              <c:f>'Answer8-10'!$C$64:$C$68</c:f>
              <c:numCache>
                <c:formatCode>General</c:formatCode>
                <c:ptCount val="4"/>
                <c:pt idx="0">
                  <c:v>161</c:v>
                </c:pt>
                <c:pt idx="1">
                  <c:v>74</c:v>
                </c:pt>
                <c:pt idx="2">
                  <c:v>68</c:v>
                </c:pt>
                <c:pt idx="3">
                  <c:v>19</c:v>
                </c:pt>
              </c:numCache>
            </c:numRef>
          </c:val>
          <c:extLst>
            <c:ext xmlns:c16="http://schemas.microsoft.com/office/drawing/2014/chart" uri="{C3380CC4-5D6E-409C-BE32-E72D297353CC}">
              <c16:uniqueId val="{00000000-100B-4FAC-BE9D-D19D5F74A79D}"/>
            </c:ext>
          </c:extLst>
        </c:ser>
        <c:ser>
          <c:idx val="1"/>
          <c:order val="1"/>
          <c:tx>
            <c:strRef>
              <c:f>'Answer8-10'!$D$62:$D$63</c:f>
              <c:strCache>
                <c:ptCount val="1"/>
                <c:pt idx="0">
                  <c:v>2</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'Answer8-10'!$B$64:$B$68</c:f>
              <c:strCache>
                <c:ptCount val="4"/>
                <c:pt idx="0">
                  <c:v>Restaurant</c:v>
                </c:pt>
                <c:pt idx="1">
                  <c:v>Facility</c:v>
                </c:pt>
                <c:pt idx="2">
                  <c:v>Room</c:v>
                </c:pt>
                <c:pt idx="3">
                  <c:v>Staff</c:v>
                </c:pt>
              </c:strCache>
            </c:strRef>
          </c:cat>
          <c:val>
            <c:numRef>
              <c:f>'Answer8-10'!$D$64:$D$68</c:f>
              <c:numCache>
                <c:formatCode>General</c:formatCode>
                <c:ptCount val="4"/>
                <c:pt idx="0">
                  <c:v>139</c:v>
                </c:pt>
                <c:pt idx="1">
                  <c:v>97</c:v>
                </c:pt>
                <c:pt idx="2">
                  <c:v>62</c:v>
                </c:pt>
                <c:pt idx="3">
                  <c:v>40</c:v>
                </c:pt>
              </c:numCache>
            </c:numRef>
          </c:val>
          <c:extLst>
            <c:ext xmlns:c16="http://schemas.microsoft.com/office/drawing/2014/chart" uri="{C3380CC4-5D6E-409C-BE32-E72D297353CC}">
              <c16:uniqueId val="{00000001-100B-4FAC-BE9D-D19D5F74A79D}"/>
            </c:ext>
          </c:extLst>
        </c:ser>
        <c:ser>
          <c:idx val="2"/>
          <c:order val="2"/>
          <c:tx>
            <c:strRef>
              <c:f>'Answer8-10'!$E$62:$E$63</c:f>
              <c:strCache>
                <c:ptCount val="1"/>
                <c:pt idx="0">
                  <c:v>3</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'Answer8-10'!$B$64:$B$68</c:f>
              <c:strCache>
                <c:ptCount val="4"/>
                <c:pt idx="0">
                  <c:v>Restaurant</c:v>
                </c:pt>
                <c:pt idx="1">
                  <c:v>Facility</c:v>
                </c:pt>
                <c:pt idx="2">
                  <c:v>Room</c:v>
                </c:pt>
                <c:pt idx="3">
                  <c:v>Staff</c:v>
                </c:pt>
              </c:strCache>
            </c:strRef>
          </c:cat>
          <c:val>
            <c:numRef>
              <c:f>'Answer8-10'!$E$64:$E$68</c:f>
              <c:numCache>
                <c:formatCode>General</c:formatCode>
                <c:ptCount val="4"/>
                <c:pt idx="0">
                  <c:v>55</c:v>
                </c:pt>
                <c:pt idx="1">
                  <c:v>82</c:v>
                </c:pt>
                <c:pt idx="2">
                  <c:v>124</c:v>
                </c:pt>
                <c:pt idx="3">
                  <c:v>101</c:v>
                </c:pt>
              </c:numCache>
            </c:numRef>
          </c:val>
          <c:extLst>
            <c:ext xmlns:c16="http://schemas.microsoft.com/office/drawing/2014/chart" uri="{C3380CC4-5D6E-409C-BE32-E72D297353CC}">
              <c16:uniqueId val="{00000002-100B-4FAC-BE9D-D19D5F74A79D}"/>
            </c:ext>
          </c:extLst>
        </c:ser>
        <c:ser>
          <c:idx val="3"/>
          <c:order val="3"/>
          <c:tx>
            <c:strRef>
              <c:f>'Answer8-10'!$F$62:$F$63</c:f>
              <c:strCache>
                <c:ptCount val="1"/>
                <c:pt idx="0">
                  <c:v>4</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'Answer8-10'!$B$64:$B$68</c:f>
              <c:strCache>
                <c:ptCount val="4"/>
                <c:pt idx="0">
                  <c:v>Restaurant</c:v>
                </c:pt>
                <c:pt idx="1">
                  <c:v>Facility</c:v>
                </c:pt>
                <c:pt idx="2">
                  <c:v>Room</c:v>
                </c:pt>
                <c:pt idx="3">
                  <c:v>Staff</c:v>
                </c:pt>
              </c:strCache>
            </c:strRef>
          </c:cat>
          <c:val>
            <c:numRef>
              <c:f>'Answer8-10'!$F$64:$F$68</c:f>
              <c:numCache>
                <c:formatCode>General</c:formatCode>
                <c:ptCount val="4"/>
                <c:pt idx="0">
                  <c:v>67</c:v>
                </c:pt>
                <c:pt idx="1">
                  <c:v>101</c:v>
                </c:pt>
                <c:pt idx="2">
                  <c:v>125</c:v>
                </c:pt>
                <c:pt idx="3">
                  <c:v>191</c:v>
                </c:pt>
              </c:numCache>
            </c:numRef>
          </c:val>
          <c:extLst>
            <c:ext xmlns:c16="http://schemas.microsoft.com/office/drawing/2014/chart" uri="{C3380CC4-5D6E-409C-BE32-E72D297353CC}">
              <c16:uniqueId val="{00000003-100B-4FAC-BE9D-D19D5F74A79D}"/>
            </c:ext>
          </c:extLst>
        </c:ser>
        <c:ser>
          <c:idx val="4"/>
          <c:order val="4"/>
          <c:tx>
            <c:strRef>
              <c:f>'Answer8-10'!$G$62:$G$63</c:f>
              <c:strCache>
                <c:ptCount val="1"/>
                <c:pt idx="0">
                  <c:v>5</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'Answer8-10'!$B$64:$B$68</c:f>
              <c:strCache>
                <c:ptCount val="4"/>
                <c:pt idx="0">
                  <c:v>Restaurant</c:v>
                </c:pt>
                <c:pt idx="1">
                  <c:v>Facility</c:v>
                </c:pt>
                <c:pt idx="2">
                  <c:v>Room</c:v>
                </c:pt>
                <c:pt idx="3">
                  <c:v>Staff</c:v>
                </c:pt>
              </c:strCache>
            </c:strRef>
          </c:cat>
          <c:val>
            <c:numRef>
              <c:f>'Answer8-10'!$G$64:$G$68</c:f>
              <c:numCache>
                <c:formatCode>General</c:formatCode>
                <c:ptCount val="4"/>
                <c:pt idx="0">
                  <c:v>64</c:v>
                </c:pt>
                <c:pt idx="1">
                  <c:v>131</c:v>
                </c:pt>
                <c:pt idx="2">
                  <c:v>109</c:v>
                </c:pt>
                <c:pt idx="3">
                  <c:v>137</c:v>
                </c:pt>
              </c:numCache>
            </c:numRef>
          </c:val>
          <c:extLst>
            <c:ext xmlns:c16="http://schemas.microsoft.com/office/drawing/2014/chart" uri="{C3380CC4-5D6E-409C-BE32-E72D297353CC}">
              <c16:uniqueId val="{00000004-100B-4FAC-BE9D-D19D5F74A79D}"/>
            </c:ext>
          </c:extLst>
        </c:ser>
        <c:dLbls>
          <c:showLegendKey val="0"/>
          <c:showVal val="0"/>
          <c:showCatName val="0"/>
          <c:showSerName val="0"/>
          <c:showPercent val="0"/>
          <c:showBubbleSize val="0"/>
        </c:dLbls>
        <c:gapWidth val="100"/>
        <c:overlap val="-24"/>
        <c:axId val="1394957840"/>
        <c:axId val="1394953040"/>
      </c:barChart>
      <c:catAx>
        <c:axId val="1394957840"/>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4953040"/>
        <c:crosses val="autoZero"/>
        <c:auto val="1"/>
        <c:lblAlgn val="ctr"/>
        <c:lblOffset val="100"/>
        <c:noMultiLvlLbl val="0"/>
      </c:catAx>
      <c:valAx>
        <c:axId val="13949530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495784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Reversed" id="25">
  <a:schemeClr val="accent5"/>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900" kern="1200"/>
  </cs:axisTitle>
  <cs:categoryAxis>
    <cs:lnRef idx="0"/>
    <cs:fillRef idx="0"/>
    <cs:effectRef idx="0"/>
    <cs:fontRef idx="minor">
      <a:schemeClr val="dk1">
        <a:lumMod val="65000"/>
        <a:lumOff val="35000"/>
      </a:schemeClr>
    </cs:fontRef>
    <cs:defRPr sz="900"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18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900" kern="1200"/>
  </cs:axisTitle>
  <cs:categoryAxis>
    <cs:lnRef idx="0"/>
    <cs:fillRef idx="0"/>
    <cs:effectRef idx="0"/>
    <cs:fontRef idx="minor">
      <a:schemeClr val="dk1">
        <a:lumMod val="65000"/>
        <a:lumOff val="35000"/>
      </a:schemeClr>
    </cs:fontRef>
    <cs:defRPr sz="900"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18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341">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6.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7.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44C37F-D296-415C-B1E7-6FB7439FAEAB}" type="datetimeFigureOut">
              <a:rPr lang="en-IN" smtClean="0"/>
              <a:t>07-12-2025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96FB4F-C965-47FD-9C05-71243637FA83}" type="slidenum">
              <a:rPr lang="en-IN" smtClean="0"/>
              <a:t>‹#›</a:t>
            </a:fld>
            <a:endParaRPr lang="en-IN"/>
          </a:p>
        </p:txBody>
      </p:sp>
    </p:spTree>
    <p:extLst>
      <p:ext uri="{BB962C8B-B14F-4D97-AF65-F5344CB8AC3E}">
        <p14:creationId xmlns:p14="http://schemas.microsoft.com/office/powerpoint/2010/main" val="1506511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396FB4F-C965-47FD-9C05-71243637FA83}" type="slidenum">
              <a:rPr lang="en-IN" smtClean="0"/>
              <a:t>10</a:t>
            </a:fld>
            <a:endParaRPr lang="en-IN"/>
          </a:p>
        </p:txBody>
      </p:sp>
    </p:spTree>
    <p:extLst>
      <p:ext uri="{BB962C8B-B14F-4D97-AF65-F5344CB8AC3E}">
        <p14:creationId xmlns:p14="http://schemas.microsoft.com/office/powerpoint/2010/main" val="8606292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3B052-A59B-4AE3-A89A-E7748630C1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BDA9EC4-FEA9-41D2-BE8D-F709F01D37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E155CF-52F5-4879-B7F3-D05812AC4A6D}"/>
              </a:ext>
            </a:extLst>
          </p:cNvPr>
          <p:cNvSpPr>
            <a:spLocks noGrp="1"/>
          </p:cNvSpPr>
          <p:nvPr>
            <p:ph type="dt" sz="half" idx="10"/>
          </p:nvPr>
        </p:nvSpPr>
        <p:spPr/>
        <p:txBody>
          <a:bodyPr/>
          <a:lstStyle/>
          <a:p>
            <a:fld id="{65B910DF-B555-4D30-B35E-2297D59E32D0}" type="datetime1">
              <a:rPr lang="en-US" smtClean="0"/>
              <a:t>12/7/2025</a:t>
            </a:fld>
            <a:endParaRPr lang="en-US" dirty="0"/>
          </a:p>
        </p:txBody>
      </p:sp>
      <p:sp>
        <p:nvSpPr>
          <p:cNvPr id="5" name="Footer Placeholder 4">
            <a:extLst>
              <a:ext uri="{FF2B5EF4-FFF2-40B4-BE49-F238E27FC236}">
                <a16:creationId xmlns:a16="http://schemas.microsoft.com/office/drawing/2014/main" id="{80D053AC-61ED-4C2F-90BF-D4A9165451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138B2ED7-A198-4613-B8C9-EE02BAE24FA4}"/>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3840208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991-AEF1-4F19-AAB8-436EAD58C2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25B44F-E7DA-40C6-8B44-71EAB6BDFC98}"/>
              </a:ext>
            </a:extLst>
          </p:cNvPr>
          <p:cNvSpPr>
            <a:spLocks noGrp="1"/>
          </p:cNvSpPr>
          <p:nvPr>
            <p:ph idx="1"/>
          </p:nvPr>
        </p:nvSpPr>
        <p:spPr/>
        <p:txBody>
          <a:bodyPr/>
          <a:lstStyle>
            <a:lvl2pPr marL="685800" indent="-228600">
              <a:buFont typeface="Courier New" panose="02070309020205020404" pitchFamily="49" charset="0"/>
              <a:buChar char="o"/>
              <a:defRPr/>
            </a:lvl2pPr>
            <a:lvl4pPr marL="1600200" indent="-228600">
              <a:buFont typeface="Courier New" panose="02070309020205020404" pitchFamily="49" charset="0"/>
              <a:buChar char="o"/>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F71817-A045-48C0-975B-CBEF88E9561E}"/>
              </a:ext>
            </a:extLst>
          </p:cNvPr>
          <p:cNvSpPr>
            <a:spLocks noGrp="1"/>
          </p:cNvSpPr>
          <p:nvPr>
            <p:ph type="dt" sz="half" idx="10"/>
          </p:nvPr>
        </p:nvSpPr>
        <p:spPr/>
        <p:txBody>
          <a:bodyPr/>
          <a:lstStyle/>
          <a:p>
            <a:fld id="{0DF2F1F9-9322-493A-A9EE-BB75692CE5F5}" type="datetime1">
              <a:rPr lang="en-US" smtClean="0"/>
              <a:t>12/7/2025</a:t>
            </a:fld>
            <a:endParaRPr lang="en-US" dirty="0"/>
          </a:p>
        </p:txBody>
      </p:sp>
      <p:sp>
        <p:nvSpPr>
          <p:cNvPr id="5" name="Footer Placeholder 4">
            <a:extLst>
              <a:ext uri="{FF2B5EF4-FFF2-40B4-BE49-F238E27FC236}">
                <a16:creationId xmlns:a16="http://schemas.microsoft.com/office/drawing/2014/main" id="{B61C39F0-32D4-407C-8BCA-97F2D9E500C9}"/>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99CF4459-37B2-4F87-B508-DB04D4332067}"/>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1091261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BBD03-9D57-48E9-8B43-688B729972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83F376C-8A2F-4BE5-9669-4A6DA21B77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54893-212E-4450-8F7A-27256B31F9FB}"/>
              </a:ext>
            </a:extLst>
          </p:cNvPr>
          <p:cNvSpPr>
            <a:spLocks noGrp="1"/>
          </p:cNvSpPr>
          <p:nvPr>
            <p:ph type="dt" sz="half" idx="10"/>
          </p:nvPr>
        </p:nvSpPr>
        <p:spPr/>
        <p:txBody>
          <a:bodyPr/>
          <a:lstStyle/>
          <a:p>
            <a:fld id="{7858DE51-4D5E-4D23-8181-86A5B05D5351}" type="datetime1">
              <a:rPr lang="en-US" smtClean="0"/>
              <a:t>12/7/2025</a:t>
            </a:fld>
            <a:endParaRPr lang="en-US" dirty="0"/>
          </a:p>
        </p:txBody>
      </p:sp>
      <p:sp>
        <p:nvSpPr>
          <p:cNvPr id="5" name="Footer Placeholder 4">
            <a:extLst>
              <a:ext uri="{FF2B5EF4-FFF2-40B4-BE49-F238E27FC236}">
                <a16:creationId xmlns:a16="http://schemas.microsoft.com/office/drawing/2014/main" id="{600E881A-3958-44A9-9EDB-D86F4E4144C0}"/>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CFEDBC4F-D9B8-4BFA-BE4F-D4B9B739D1BA}"/>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123074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C8777-C460-4649-8822-CA943386D0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DF69E6-1094-437B-AA7E-0E21B7136C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0BC963-4591-4BE3-AE63-4999A13C50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04D5BB-DB84-4266-9B4F-E65CCFE5B310}"/>
              </a:ext>
            </a:extLst>
          </p:cNvPr>
          <p:cNvSpPr>
            <a:spLocks noGrp="1"/>
          </p:cNvSpPr>
          <p:nvPr>
            <p:ph type="dt" sz="half" idx="10"/>
          </p:nvPr>
        </p:nvSpPr>
        <p:spPr/>
        <p:txBody>
          <a:bodyPr/>
          <a:lstStyle/>
          <a:p>
            <a:fld id="{9C399FCA-87F3-427A-B1A2-15346103C68A}" type="datetime1">
              <a:rPr lang="en-US" smtClean="0"/>
              <a:t>12/7/2025</a:t>
            </a:fld>
            <a:endParaRPr lang="en-US" dirty="0"/>
          </a:p>
        </p:txBody>
      </p:sp>
      <p:sp>
        <p:nvSpPr>
          <p:cNvPr id="6" name="Footer Placeholder 5">
            <a:extLst>
              <a:ext uri="{FF2B5EF4-FFF2-40B4-BE49-F238E27FC236}">
                <a16:creationId xmlns:a16="http://schemas.microsoft.com/office/drawing/2014/main" id="{891A99B5-D493-4AB1-AF24-6660540D56AD}"/>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FE178D0-5F1E-43FA-B447-53501EDD17C0}"/>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15426712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85CC-8D2B-4219-A2A4-1625A02DFE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6143C8-1CF7-440E-99A3-0527314598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6CB5B7-DC23-41CE-872B-E25BD64F84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fld id="{693DF709-7E2D-49E6-A629-D8E3363D194F}" type="datetime1">
              <a:rPr lang="en-US" smtClean="0"/>
              <a:t>12/7/2025</a:t>
            </a:fld>
            <a:endParaRPr lang="en-US" dirty="0"/>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11420331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fld id="{85D0A921-9375-4BAA-A7C2-7975528669FA}" type="datetime1">
              <a:rPr lang="en-US" smtClean="0"/>
              <a:t>12/7/2025</a:t>
            </a:fld>
            <a:endParaRPr lang="en-US" dirty="0"/>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2443369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fld id="{A5D25425-F285-48AE-A409-A618E3EEA628}" type="datetime1">
              <a:rPr lang="en-US" smtClean="0"/>
              <a:t>12/7/2025</a:t>
            </a:fld>
            <a:endParaRPr lang="en-US" dirty="0"/>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endParaRPr lang="en-US" dirty="0"/>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117579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0DAA-DDE3-4C9C-8171-385A3DAC81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AF73DB2-BD72-4F5E-9CA2-197343A090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F01536-2B0A-42A2-827E-2EB2C324A5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22CD09-61EF-4733-831C-5B133DAE1F4C}"/>
              </a:ext>
            </a:extLst>
          </p:cNvPr>
          <p:cNvSpPr>
            <a:spLocks noGrp="1"/>
          </p:cNvSpPr>
          <p:nvPr>
            <p:ph type="dt" sz="half" idx="10"/>
          </p:nvPr>
        </p:nvSpPr>
        <p:spPr/>
        <p:txBody>
          <a:bodyPr/>
          <a:lstStyle/>
          <a:p>
            <a:fld id="{EB56A94D-7D6A-4378-93F6-A3A33186E34B}" type="datetime1">
              <a:rPr lang="en-US" smtClean="0"/>
              <a:t>12/7/2025</a:t>
            </a:fld>
            <a:endParaRPr lang="en-US" dirty="0"/>
          </a:p>
        </p:txBody>
      </p:sp>
      <p:sp>
        <p:nvSpPr>
          <p:cNvPr id="6" name="Footer Placeholder 5">
            <a:extLst>
              <a:ext uri="{FF2B5EF4-FFF2-40B4-BE49-F238E27FC236}">
                <a16:creationId xmlns:a16="http://schemas.microsoft.com/office/drawing/2014/main" id="{5B109FCF-96E4-4EBF-AAFB-5E9AD22A68AE}"/>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79E381A6-E580-49A4-989C-EF4A54F83B45}"/>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943515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FA6E-F719-4613-8815-591471E722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54384F3-CDE0-4329-B76D-45AAC94B04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79A9D7EB-40DA-460F-A48A-3E6D5E5612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56944C-E229-457E-868E-C48FF47DA37A}"/>
              </a:ext>
            </a:extLst>
          </p:cNvPr>
          <p:cNvSpPr>
            <a:spLocks noGrp="1"/>
          </p:cNvSpPr>
          <p:nvPr>
            <p:ph type="dt" sz="half" idx="10"/>
          </p:nvPr>
        </p:nvSpPr>
        <p:spPr/>
        <p:txBody>
          <a:bodyPr/>
          <a:lstStyle/>
          <a:p>
            <a:fld id="{285FC0F9-687B-4417-9D77-CE2D7AD8C321}" type="datetime1">
              <a:rPr lang="en-US" smtClean="0"/>
              <a:t>12/7/2025</a:t>
            </a:fld>
            <a:endParaRPr lang="en-US" dirty="0"/>
          </a:p>
        </p:txBody>
      </p:sp>
      <p:sp>
        <p:nvSpPr>
          <p:cNvPr id="6" name="Footer Placeholder 5">
            <a:extLst>
              <a:ext uri="{FF2B5EF4-FFF2-40B4-BE49-F238E27FC236}">
                <a16:creationId xmlns:a16="http://schemas.microsoft.com/office/drawing/2014/main" id="{CC7115FE-359F-46EA-A3C8-0D18544E34AD}"/>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5165D17-3010-4FF5-9071-5CCD3E6995D6}"/>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2706667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B47DD-81F8-4128-9E50-04A9F2D3DC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6564D1-2B83-4C0F-ACBA-E91472C50A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FA1D7D-D2EC-4ADB-9C65-191DEC82DDF4}"/>
              </a:ext>
            </a:extLst>
          </p:cNvPr>
          <p:cNvSpPr>
            <a:spLocks noGrp="1"/>
          </p:cNvSpPr>
          <p:nvPr>
            <p:ph type="dt" sz="half" idx="10"/>
          </p:nvPr>
        </p:nvSpPr>
        <p:spPr/>
        <p:txBody>
          <a:bodyPr/>
          <a:lstStyle/>
          <a:p>
            <a:fld id="{29D1D79F-E600-4AC1-A639-0B9FB8286C38}" type="datetime1">
              <a:rPr lang="en-US" smtClean="0"/>
              <a:t>12/7/2025</a:t>
            </a:fld>
            <a:endParaRPr lang="en-US" dirty="0"/>
          </a:p>
        </p:txBody>
      </p:sp>
      <p:sp>
        <p:nvSpPr>
          <p:cNvPr id="5" name="Footer Placeholder 4">
            <a:extLst>
              <a:ext uri="{FF2B5EF4-FFF2-40B4-BE49-F238E27FC236}">
                <a16:creationId xmlns:a16="http://schemas.microsoft.com/office/drawing/2014/main" id="{534CB571-86F9-474A-826A-75CC21C8832B}"/>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A1384F5F-50E6-4BB9-B848-EE2302C02ABE}"/>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16425088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3F08DF-1C0D-4F53-A3AB-95D7B55FA0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0D3BBD-C494-4E94-B189-319802A93E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3C0BD9-4BED-43D3-852F-B74B949A2287}"/>
              </a:ext>
            </a:extLst>
          </p:cNvPr>
          <p:cNvSpPr>
            <a:spLocks noGrp="1"/>
          </p:cNvSpPr>
          <p:nvPr>
            <p:ph type="dt" sz="half" idx="10"/>
          </p:nvPr>
        </p:nvSpPr>
        <p:spPr/>
        <p:txBody>
          <a:bodyPr/>
          <a:lstStyle/>
          <a:p>
            <a:fld id="{390F5D60-A842-4D08-9D7D-A7A57AB501A2}" type="datetime1">
              <a:rPr lang="en-US" smtClean="0"/>
              <a:t>12/7/2025</a:t>
            </a:fld>
            <a:endParaRPr lang="en-US" dirty="0"/>
          </a:p>
        </p:txBody>
      </p:sp>
      <p:sp>
        <p:nvSpPr>
          <p:cNvPr id="5" name="Footer Placeholder 4">
            <a:extLst>
              <a:ext uri="{FF2B5EF4-FFF2-40B4-BE49-F238E27FC236}">
                <a16:creationId xmlns:a16="http://schemas.microsoft.com/office/drawing/2014/main" id="{BB7811DC-C725-4462-B622-DB96A8987673}"/>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67C42D06-438F-4150-9238-E2FAEE5E28D9}"/>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4212544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D91916A1-FEE7-41E7-BEE3-2B4941A6F305}"/>
              </a:ext>
              <a:ext uri="{C183D7F6-B498-43B3-948B-1728B52AA6E4}">
                <adec:decorative xmlns:adec="http://schemas.microsoft.com/office/drawing/2017/decorative" val="1"/>
              </a:ext>
            </a:extLst>
          </p:cNvPr>
          <p:cNvGrpSpPr/>
          <p:nvPr/>
        </p:nvGrpSpPr>
        <p:grpSpPr>
          <a:xfrm>
            <a:off x="175990" y="62886"/>
            <a:ext cx="11708355" cy="6301715"/>
            <a:chOff x="175990" y="62886"/>
            <a:chExt cx="11708355" cy="6301715"/>
          </a:xfrm>
        </p:grpSpPr>
        <p:sp useBgFill="1">
          <p:nvSpPr>
            <p:cNvPr id="18" name="Graphic 10">
              <a:extLst>
                <a:ext uri="{FF2B5EF4-FFF2-40B4-BE49-F238E27FC236}">
                  <a16:creationId xmlns:a16="http://schemas.microsoft.com/office/drawing/2014/main" id="{EAFF5F08-677C-4873-9274-02B6FE751044}"/>
                </a:ext>
              </a:extLst>
            </p:cNvPr>
            <p:cNvSpPr/>
            <p:nvPr/>
          </p:nvSpPr>
          <p:spPr>
            <a:xfrm rot="2700000">
              <a:off x="175990" y="525742"/>
              <a:ext cx="1066799" cy="1066799"/>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dirty="0"/>
            </a:p>
          </p:txBody>
        </p:sp>
        <p:sp useBgFill="1">
          <p:nvSpPr>
            <p:cNvPr id="19" name="Graphic 10">
              <a:extLst>
                <a:ext uri="{FF2B5EF4-FFF2-40B4-BE49-F238E27FC236}">
                  <a16:creationId xmlns:a16="http://schemas.microsoft.com/office/drawing/2014/main" id="{16514C65-F179-4953-B660-5FC657697957}"/>
                </a:ext>
              </a:extLst>
            </p:cNvPr>
            <p:cNvSpPr/>
            <p:nvPr/>
          </p:nvSpPr>
          <p:spPr>
            <a:xfrm rot="2700000">
              <a:off x="8482021" y="62886"/>
              <a:ext cx="2322574" cy="2322574"/>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dirty="0"/>
            </a:p>
          </p:txBody>
        </p:sp>
        <p:sp useBgFill="1">
          <p:nvSpPr>
            <p:cNvPr id="20" name="Graphic 10">
              <a:extLst>
                <a:ext uri="{FF2B5EF4-FFF2-40B4-BE49-F238E27FC236}">
                  <a16:creationId xmlns:a16="http://schemas.microsoft.com/office/drawing/2014/main" id="{DF5DA89C-9FED-4AE0-8C36-20612E77FAC0}"/>
                </a:ext>
              </a:extLst>
            </p:cNvPr>
            <p:cNvSpPr/>
            <p:nvPr/>
          </p:nvSpPr>
          <p:spPr>
            <a:xfrm rot="2700000">
              <a:off x="10578627" y="5015941"/>
              <a:ext cx="925287" cy="925287"/>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dirty="0"/>
            </a:p>
          </p:txBody>
        </p:sp>
        <p:sp useBgFill="1">
          <p:nvSpPr>
            <p:cNvPr id="21" name="Oval 20">
              <a:extLst>
                <a:ext uri="{FF2B5EF4-FFF2-40B4-BE49-F238E27FC236}">
                  <a16:creationId xmlns:a16="http://schemas.microsoft.com/office/drawing/2014/main" id="{FB98224C-F1DB-4F10-9B7F-93B86BA13F40}"/>
                </a:ext>
              </a:extLst>
            </p:cNvPr>
            <p:cNvSpPr/>
            <p:nvPr/>
          </p:nvSpPr>
          <p:spPr>
            <a:xfrm rot="10800000">
              <a:off x="11622685" y="6102941"/>
              <a:ext cx="261660" cy="261660"/>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22" name="Oval 21">
              <a:extLst>
                <a:ext uri="{FF2B5EF4-FFF2-40B4-BE49-F238E27FC236}">
                  <a16:creationId xmlns:a16="http://schemas.microsoft.com/office/drawing/2014/main" id="{9AE1FC9E-06C9-4A12-8BE7-766C3DA8B9AC}"/>
                </a:ext>
              </a:extLst>
            </p:cNvPr>
            <p:cNvSpPr/>
            <p:nvPr/>
          </p:nvSpPr>
          <p:spPr>
            <a:xfrm rot="10800000">
              <a:off x="11352354" y="406586"/>
              <a:ext cx="474023" cy="474023"/>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23" name="Oval 22">
              <a:extLst>
                <a:ext uri="{FF2B5EF4-FFF2-40B4-BE49-F238E27FC236}">
                  <a16:creationId xmlns:a16="http://schemas.microsoft.com/office/drawing/2014/main" id="{29954B75-D8C7-439C-A014-E644E3E2C0A5}"/>
                </a:ext>
              </a:extLst>
            </p:cNvPr>
            <p:cNvSpPr/>
            <p:nvPr/>
          </p:nvSpPr>
          <p:spPr>
            <a:xfrm rot="10800000">
              <a:off x="1678231" y="427615"/>
              <a:ext cx="334385" cy="334385"/>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dirty="0"/>
            </a:p>
          </p:txBody>
        </p:sp>
      </p:grpSp>
      <p:sp>
        <p:nvSpPr>
          <p:cNvPr id="2" name="Title Placeholder 1">
            <a:extLst>
              <a:ext uri="{FF2B5EF4-FFF2-40B4-BE49-F238E27FC236}">
                <a16:creationId xmlns:a16="http://schemas.microsoft.com/office/drawing/2014/main" id="{41447F1F-BFA8-4A56-894B-40120132EE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58FB99-0FA3-49F4-99A1-61919F9427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DCCAE5-4EB0-4174-BD15-4943899B0A29}"/>
              </a:ext>
            </a:extLst>
          </p:cNvPr>
          <p:cNvSpPr>
            <a:spLocks noGrp="1"/>
          </p:cNvSpPr>
          <p:nvPr>
            <p:ph type="dt" sz="half" idx="2"/>
          </p:nvPr>
        </p:nvSpPr>
        <p:spPr>
          <a:xfrm>
            <a:off x="838200" y="6400800"/>
            <a:ext cx="2743200" cy="365125"/>
          </a:xfrm>
          <a:prstGeom prst="rect">
            <a:avLst/>
          </a:prstGeom>
        </p:spPr>
        <p:txBody>
          <a:bodyPr vert="horz" lIns="91440" tIns="45720" rIns="91440" bIns="45720" rtlCol="0" anchor="ctr"/>
          <a:lstStyle>
            <a:lvl1pPr algn="l">
              <a:defRPr sz="900" cap="all" spc="150" baseline="0">
                <a:solidFill>
                  <a:schemeClr val="tx1">
                    <a:tint val="75000"/>
                  </a:schemeClr>
                </a:solidFill>
              </a:defRPr>
            </a:lvl1pPr>
          </a:lstStyle>
          <a:p>
            <a:fld id="{B32DFD30-2122-4F4A-97B4-D0A849E36C5F}" type="datetime1">
              <a:rPr lang="en-US" smtClean="0"/>
              <a:t>12/7/2025</a:t>
            </a:fld>
            <a:endParaRPr lang="en-US" dirty="0"/>
          </a:p>
        </p:txBody>
      </p:sp>
      <p:sp>
        <p:nvSpPr>
          <p:cNvPr id="5" name="Footer Placeholder 4">
            <a:extLst>
              <a:ext uri="{FF2B5EF4-FFF2-40B4-BE49-F238E27FC236}">
                <a16:creationId xmlns:a16="http://schemas.microsoft.com/office/drawing/2014/main" id="{26A4189E-43B2-4CEE-B13E-61A1FBBBD25D}"/>
              </a:ext>
            </a:extLst>
          </p:cNvPr>
          <p:cNvSpPr>
            <a:spLocks noGrp="1"/>
          </p:cNvSpPr>
          <p:nvPr>
            <p:ph type="ftr" sz="quarter" idx="3"/>
          </p:nvPr>
        </p:nvSpPr>
        <p:spPr>
          <a:xfrm>
            <a:off x="4038600" y="6400800"/>
            <a:ext cx="4114800" cy="365125"/>
          </a:xfrm>
          <a:prstGeom prst="rect">
            <a:avLst/>
          </a:prstGeom>
        </p:spPr>
        <p:txBody>
          <a:bodyPr vert="horz" lIns="91440" tIns="45720" rIns="91440" bIns="45720" rtlCol="0" anchor="ctr"/>
          <a:lstStyle>
            <a:lvl1pPr algn="ctr">
              <a:defRPr sz="900" cap="all" spc="150" baseline="0">
                <a:solidFill>
                  <a:schemeClr val="tx1">
                    <a:tint val="75000"/>
                  </a:schemeClr>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EAA0530F-0BC8-46EF-A765-DD58B5367528}"/>
              </a:ext>
            </a:extLst>
          </p:cNvPr>
          <p:cNvSpPr>
            <a:spLocks noGrp="1"/>
          </p:cNvSpPr>
          <p:nvPr>
            <p:ph type="sldNum" sz="quarter" idx="4"/>
          </p:nvPr>
        </p:nvSpPr>
        <p:spPr>
          <a:xfrm>
            <a:off x="8610600" y="6400800"/>
            <a:ext cx="2743200" cy="365125"/>
          </a:xfrm>
          <a:prstGeom prst="rect">
            <a:avLst/>
          </a:prstGeom>
        </p:spPr>
        <p:txBody>
          <a:bodyPr vert="horz" lIns="91440" tIns="45720" rIns="91440" bIns="45720" rtlCol="0" anchor="ctr"/>
          <a:lstStyle>
            <a:lvl1pPr algn="r">
              <a:defRPr sz="900" cap="all" spc="150" baseline="0">
                <a:solidFill>
                  <a:schemeClr val="tx1">
                    <a:tint val="75000"/>
                  </a:schemeClr>
                </a:solidFill>
              </a:defRPr>
            </a:lvl1p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26401893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Segoe UI" panose="020B0502040204020203"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Courier New" panose="02070309020205020404" pitchFamily="49" charset="0"/>
        <a:buChar char="o"/>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egoe UI" panose="020B0502040204020203"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Courier New" panose="02070309020205020404" pitchFamily="49" charset="0"/>
        <a:buChar char="o"/>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Segoe UI" panose="020B0502040204020203"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D2BE1-22F9-6919-ED29-09016AF48DB1}"/>
              </a:ext>
            </a:extLst>
          </p:cNvPr>
          <p:cNvSpPr>
            <a:spLocks noGrp="1"/>
          </p:cNvSpPr>
          <p:nvPr>
            <p:ph type="ctrTitle"/>
          </p:nvPr>
        </p:nvSpPr>
        <p:spPr/>
        <p:txBody>
          <a:bodyPr>
            <a:normAutofit fontScale="90000"/>
          </a:bodyPr>
          <a:lstStyle/>
          <a:p>
            <a:r>
              <a:rPr lang="en-US" dirty="0"/>
              <a:t>Mini-Project: Guest Feedback Data Analysis Using Excel</a:t>
            </a:r>
            <a:endParaRPr lang="en-IN" dirty="0"/>
          </a:p>
        </p:txBody>
      </p:sp>
      <p:sp>
        <p:nvSpPr>
          <p:cNvPr id="3" name="Subtitle 2">
            <a:extLst>
              <a:ext uri="{FF2B5EF4-FFF2-40B4-BE49-F238E27FC236}">
                <a16:creationId xmlns:a16="http://schemas.microsoft.com/office/drawing/2014/main" id="{23F24B17-2ECF-93BE-D58F-6344A5BFFF2C}"/>
              </a:ext>
            </a:extLst>
          </p:cNvPr>
          <p:cNvSpPr>
            <a:spLocks noGrp="1"/>
          </p:cNvSpPr>
          <p:nvPr>
            <p:ph type="subTitle" idx="1"/>
          </p:nvPr>
        </p:nvSpPr>
        <p:spPr/>
        <p:txBody>
          <a:bodyPr/>
          <a:lstStyle/>
          <a:p>
            <a:r>
              <a:rPr lang="en-US" dirty="0"/>
              <a:t>(Report and Findings)</a:t>
            </a:r>
            <a:endParaRPr lang="en-IN" dirty="0"/>
          </a:p>
        </p:txBody>
      </p:sp>
    </p:spTree>
    <p:extLst>
      <p:ext uri="{BB962C8B-B14F-4D97-AF65-F5344CB8AC3E}">
        <p14:creationId xmlns:p14="http://schemas.microsoft.com/office/powerpoint/2010/main" val="2181962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552E2C2-D9C1-2CFF-599E-F2E58B08D4F8}"/>
              </a:ext>
            </a:extLst>
          </p:cNvPr>
          <p:cNvSpPr>
            <a:spLocks noGrp="1"/>
          </p:cNvSpPr>
          <p:nvPr>
            <p:ph type="title"/>
          </p:nvPr>
        </p:nvSpPr>
        <p:spPr/>
        <p:txBody>
          <a:bodyPr>
            <a:normAutofit fontScale="90000"/>
          </a:bodyPr>
          <a:lstStyle/>
          <a:p>
            <a:r>
              <a:rPr lang="en-US" sz="2000" dirty="0"/>
              <a:t>Column Chart for Guest Purposes </a:t>
            </a:r>
            <a:br>
              <a:rPr lang="en-US" sz="2000" dirty="0"/>
            </a:br>
            <a:r>
              <a:rPr lang="en-US" sz="2000" dirty="0"/>
              <a:t>● Create a column chart to visualize the count of guests based on their "Purpose" (Business, Vacation, Function). </a:t>
            </a:r>
            <a:br>
              <a:rPr lang="en-US" sz="2000" dirty="0"/>
            </a:br>
            <a:r>
              <a:rPr lang="en-US" sz="2000" dirty="0"/>
              <a:t>● How many guests came for each purpose, and which purpose has the highest number of guests</a:t>
            </a:r>
            <a:endParaRPr lang="en-IN" sz="2000" dirty="0"/>
          </a:p>
        </p:txBody>
      </p:sp>
      <p:sp>
        <p:nvSpPr>
          <p:cNvPr id="11" name="Content Placeholder 10">
            <a:extLst>
              <a:ext uri="{FF2B5EF4-FFF2-40B4-BE49-F238E27FC236}">
                <a16:creationId xmlns:a16="http://schemas.microsoft.com/office/drawing/2014/main" id="{88B1E36A-F6D7-3831-0924-FAF933DC0595}"/>
              </a:ext>
            </a:extLst>
          </p:cNvPr>
          <p:cNvSpPr>
            <a:spLocks noGrp="1"/>
          </p:cNvSpPr>
          <p:nvPr>
            <p:ph sz="half" idx="2"/>
          </p:nvPr>
        </p:nvSpPr>
        <p:spPr>
          <a:xfrm>
            <a:off x="6172200" y="1881444"/>
            <a:ext cx="5181600" cy="4351338"/>
          </a:xfrm>
        </p:spPr>
        <p:txBody>
          <a:bodyPr/>
          <a:lstStyle/>
          <a:p>
            <a:pPr algn="just"/>
            <a:r>
              <a:rPr lang="en-US" dirty="0"/>
              <a:t>As per the data 134 people visited for other purposes </a:t>
            </a:r>
          </a:p>
          <a:p>
            <a:pPr algn="just"/>
            <a:r>
              <a:rPr lang="en-US" dirty="0"/>
              <a:t>292 People visited for the function</a:t>
            </a:r>
          </a:p>
          <a:p>
            <a:pPr algn="just"/>
            <a:r>
              <a:rPr lang="en-US" dirty="0"/>
              <a:t>693 people visited for the vacation</a:t>
            </a:r>
          </a:p>
          <a:p>
            <a:pPr algn="just"/>
            <a:r>
              <a:rPr lang="en-US" dirty="0"/>
              <a:t>828 people visited for the Business purposes , also which is the highest</a:t>
            </a:r>
          </a:p>
          <a:p>
            <a:pPr marL="0" indent="0" algn="just">
              <a:buNone/>
            </a:pPr>
            <a:endParaRPr lang="en-IN" dirty="0"/>
          </a:p>
        </p:txBody>
      </p:sp>
      <p:graphicFrame>
        <p:nvGraphicFramePr>
          <p:cNvPr id="12" name="Content Placeholder 11">
            <a:extLst>
              <a:ext uri="{FF2B5EF4-FFF2-40B4-BE49-F238E27FC236}">
                <a16:creationId xmlns:a16="http://schemas.microsoft.com/office/drawing/2014/main" id="{08215C83-314E-A6B6-B623-9128BE9C1DF8}"/>
              </a:ext>
            </a:extLst>
          </p:cNvPr>
          <p:cNvGraphicFramePr>
            <a:graphicFrameLocks noGrp="1"/>
          </p:cNvGraphicFramePr>
          <p:nvPr>
            <p:ph sz="half" idx="1"/>
          </p:nvPr>
        </p:nvGraphicFramePr>
        <p:xfrm>
          <a:off x="838200" y="1825625"/>
          <a:ext cx="5181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88206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1F89E-52FF-712A-AFDB-556502548680}"/>
              </a:ext>
            </a:extLst>
          </p:cNvPr>
          <p:cNvSpPr>
            <a:spLocks noGrp="1"/>
          </p:cNvSpPr>
          <p:nvPr>
            <p:ph type="title"/>
          </p:nvPr>
        </p:nvSpPr>
        <p:spPr/>
        <p:txBody>
          <a:bodyPr>
            <a:normAutofit fontScale="90000"/>
          </a:bodyPr>
          <a:lstStyle/>
          <a:p>
            <a:r>
              <a:rPr lang="en-US" sz="2400" dirty="0"/>
              <a:t>Pie chart for Gender </a:t>
            </a:r>
            <a:br>
              <a:rPr lang="en-US" sz="2400" dirty="0"/>
            </a:br>
            <a:r>
              <a:rPr lang="en-US" sz="2400" dirty="0"/>
              <a:t>● create a pie chart to visually represent the percentage distribution of gender within the dataset.</a:t>
            </a:r>
            <a:br>
              <a:rPr lang="en-US" sz="2400" dirty="0"/>
            </a:br>
            <a:r>
              <a:rPr lang="en-US" sz="2400" dirty="0"/>
              <a:t> ● Which gender has a higher percentage</a:t>
            </a:r>
            <a:endParaRPr lang="en-IN" sz="2400" dirty="0"/>
          </a:p>
        </p:txBody>
      </p:sp>
      <p:sp>
        <p:nvSpPr>
          <p:cNvPr id="4" name="Content Placeholder 3">
            <a:extLst>
              <a:ext uri="{FF2B5EF4-FFF2-40B4-BE49-F238E27FC236}">
                <a16:creationId xmlns:a16="http://schemas.microsoft.com/office/drawing/2014/main" id="{099DE088-7C37-2F28-50D3-B6469DC2A272}"/>
              </a:ext>
            </a:extLst>
          </p:cNvPr>
          <p:cNvSpPr>
            <a:spLocks noGrp="1"/>
          </p:cNvSpPr>
          <p:nvPr>
            <p:ph sz="half" idx="2"/>
          </p:nvPr>
        </p:nvSpPr>
        <p:spPr/>
        <p:txBody>
          <a:bodyPr/>
          <a:lstStyle/>
          <a:p>
            <a:r>
              <a:rPr lang="en-US" dirty="0"/>
              <a:t>Male has the highest percentage</a:t>
            </a:r>
            <a:endParaRPr lang="en-IN" dirty="0"/>
          </a:p>
        </p:txBody>
      </p:sp>
      <p:graphicFrame>
        <p:nvGraphicFramePr>
          <p:cNvPr id="5" name="Content Placeholder 4">
            <a:extLst>
              <a:ext uri="{FF2B5EF4-FFF2-40B4-BE49-F238E27FC236}">
                <a16:creationId xmlns:a16="http://schemas.microsoft.com/office/drawing/2014/main" id="{25654CBD-58F1-BF04-F369-6B8B56AE316C}"/>
              </a:ext>
            </a:extLst>
          </p:cNvPr>
          <p:cNvGraphicFramePr>
            <a:graphicFrameLocks noGrp="1"/>
          </p:cNvGraphicFramePr>
          <p:nvPr>
            <p:ph sz="half" idx="1"/>
          </p:nvPr>
        </p:nvGraphicFramePr>
        <p:xfrm>
          <a:off x="838200" y="1825625"/>
          <a:ext cx="5181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40260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1A0A3-14E3-8283-9772-EE6ED48415A6}"/>
              </a:ext>
            </a:extLst>
          </p:cNvPr>
          <p:cNvSpPr>
            <a:spLocks noGrp="1"/>
          </p:cNvSpPr>
          <p:nvPr>
            <p:ph type="title"/>
          </p:nvPr>
        </p:nvSpPr>
        <p:spPr/>
        <p:txBody>
          <a:bodyPr>
            <a:noAutofit/>
          </a:bodyPr>
          <a:lstStyle/>
          <a:p>
            <a:r>
              <a:rPr lang="en-US" sz="1800" dirty="0"/>
              <a:t>Pie Chart for NPS Categories </a:t>
            </a:r>
            <a:br>
              <a:rPr lang="en-US" sz="1800" dirty="0"/>
            </a:br>
            <a:r>
              <a:rPr lang="en-US" sz="1800" dirty="0"/>
              <a:t>● Create a pie chart to show the proportion of guests in each "NPS CATEGORY" (Promoters, Passives, Detractors). </a:t>
            </a:r>
            <a:br>
              <a:rPr lang="en-US" sz="1800" dirty="0"/>
            </a:br>
            <a:r>
              <a:rPr lang="en-US" sz="1800" dirty="0"/>
              <a:t>● What percentage of guests fall into each NPS category? Which category has the largest proportion of guests</a:t>
            </a:r>
            <a:endParaRPr lang="en-IN" sz="1800" dirty="0"/>
          </a:p>
        </p:txBody>
      </p:sp>
      <p:sp>
        <p:nvSpPr>
          <p:cNvPr id="4" name="Content Placeholder 3">
            <a:extLst>
              <a:ext uri="{FF2B5EF4-FFF2-40B4-BE49-F238E27FC236}">
                <a16:creationId xmlns:a16="http://schemas.microsoft.com/office/drawing/2014/main" id="{790E214E-FA50-EB83-BE34-64E730F90E32}"/>
              </a:ext>
            </a:extLst>
          </p:cNvPr>
          <p:cNvSpPr>
            <a:spLocks noGrp="1"/>
          </p:cNvSpPr>
          <p:nvPr>
            <p:ph sz="half" idx="2"/>
          </p:nvPr>
        </p:nvSpPr>
        <p:spPr/>
        <p:txBody>
          <a:bodyPr/>
          <a:lstStyle/>
          <a:p>
            <a:r>
              <a:rPr lang="en-US" dirty="0"/>
              <a:t>As per the data promoters has the largest proportions</a:t>
            </a:r>
            <a:endParaRPr lang="en-IN" dirty="0"/>
          </a:p>
        </p:txBody>
      </p:sp>
      <p:graphicFrame>
        <p:nvGraphicFramePr>
          <p:cNvPr id="5" name="Content Placeholder 4">
            <a:extLst>
              <a:ext uri="{FF2B5EF4-FFF2-40B4-BE49-F238E27FC236}">
                <a16:creationId xmlns:a16="http://schemas.microsoft.com/office/drawing/2014/main" id="{9D0158E6-7E8C-02AC-69D0-E27DFEEDAA83}"/>
              </a:ext>
            </a:extLst>
          </p:cNvPr>
          <p:cNvGraphicFramePr>
            <a:graphicFrameLocks noGrp="1"/>
          </p:cNvGraphicFramePr>
          <p:nvPr>
            <p:ph sz="half" idx="1"/>
          </p:nvPr>
        </p:nvGraphicFramePr>
        <p:xfrm>
          <a:off x="838200" y="1825625"/>
          <a:ext cx="5181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07246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7D2CE-DB26-FDEE-1C3F-0BE206FAEF86}"/>
              </a:ext>
            </a:extLst>
          </p:cNvPr>
          <p:cNvSpPr>
            <a:spLocks noGrp="1"/>
          </p:cNvSpPr>
          <p:nvPr>
            <p:ph type="title"/>
          </p:nvPr>
        </p:nvSpPr>
        <p:spPr/>
        <p:txBody>
          <a:bodyPr>
            <a:normAutofit fontScale="90000"/>
          </a:bodyPr>
          <a:lstStyle/>
          <a:p>
            <a:r>
              <a:rPr lang="en-US" sz="1800" dirty="0"/>
              <a:t>Bar Chart for Overall Experience by Feedback Category</a:t>
            </a:r>
            <a:br>
              <a:rPr lang="en-US" sz="1800" dirty="0"/>
            </a:br>
            <a:r>
              <a:rPr lang="en-US" sz="1800" dirty="0"/>
              <a:t> ● Create a bar chart to compare the average "Overall Experience" for each "Feedback Category" (Staff, Room, Restaurant, Facility).</a:t>
            </a:r>
            <a:br>
              <a:rPr lang="en-US" sz="1800" dirty="0"/>
            </a:br>
            <a:r>
              <a:rPr lang="en-US" sz="1800" dirty="0"/>
              <a:t> ● Which feedback category has the highest average overall experience score? What insights can you gain from this comparison</a:t>
            </a:r>
            <a:endParaRPr lang="en-IN" sz="1800" dirty="0"/>
          </a:p>
        </p:txBody>
      </p:sp>
      <p:sp>
        <p:nvSpPr>
          <p:cNvPr id="4" name="Content Placeholder 3">
            <a:extLst>
              <a:ext uri="{FF2B5EF4-FFF2-40B4-BE49-F238E27FC236}">
                <a16:creationId xmlns:a16="http://schemas.microsoft.com/office/drawing/2014/main" id="{F2996864-0020-F8C5-2EE5-46835AA5FE81}"/>
              </a:ext>
            </a:extLst>
          </p:cNvPr>
          <p:cNvSpPr>
            <a:spLocks noGrp="1"/>
          </p:cNvSpPr>
          <p:nvPr>
            <p:ph sz="half" idx="2"/>
          </p:nvPr>
        </p:nvSpPr>
        <p:spPr/>
        <p:txBody>
          <a:bodyPr/>
          <a:lstStyle/>
          <a:p>
            <a:r>
              <a:rPr lang="en-US" dirty="0"/>
              <a:t>Facility has the highest  average exp score </a:t>
            </a:r>
          </a:p>
          <a:p>
            <a:r>
              <a:rPr lang="en-US" dirty="0"/>
              <a:t>The average score of 3.60 suggests “acceptable but not impressive” satisfaction.</a:t>
            </a:r>
          </a:p>
          <a:p>
            <a:r>
              <a:rPr lang="en-US" dirty="0"/>
              <a:t>Focusing on improvements in the Room and Restaurant categories will produce the largest gains.</a:t>
            </a:r>
          </a:p>
          <a:p>
            <a:endParaRPr lang="en-IN" dirty="0"/>
          </a:p>
        </p:txBody>
      </p:sp>
      <p:graphicFrame>
        <p:nvGraphicFramePr>
          <p:cNvPr id="5" name="Content Placeholder 4">
            <a:extLst>
              <a:ext uri="{FF2B5EF4-FFF2-40B4-BE49-F238E27FC236}">
                <a16:creationId xmlns:a16="http://schemas.microsoft.com/office/drawing/2014/main" id="{57453417-0723-1BC1-2005-5E6A65422198}"/>
              </a:ext>
            </a:extLst>
          </p:cNvPr>
          <p:cNvGraphicFramePr>
            <a:graphicFrameLocks noGrp="1"/>
          </p:cNvGraphicFramePr>
          <p:nvPr>
            <p:ph sz="half" idx="1"/>
            <p:extLst>
              <p:ext uri="{D42A27DB-BD31-4B8C-83A1-F6EECF244321}">
                <p14:modId xmlns:p14="http://schemas.microsoft.com/office/powerpoint/2010/main" val="3118350343"/>
              </p:ext>
            </p:extLst>
          </p:nvPr>
        </p:nvGraphicFramePr>
        <p:xfrm>
          <a:off x="838200" y="1825625"/>
          <a:ext cx="5181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71833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9967F-58DF-B6CD-27F6-249DF63FF1A4}"/>
              </a:ext>
            </a:extLst>
          </p:cNvPr>
          <p:cNvSpPr>
            <a:spLocks noGrp="1"/>
          </p:cNvSpPr>
          <p:nvPr>
            <p:ph type="title"/>
          </p:nvPr>
        </p:nvSpPr>
        <p:spPr/>
        <p:txBody>
          <a:bodyPr>
            <a:normAutofit/>
          </a:bodyPr>
          <a:lstStyle/>
          <a:p>
            <a:r>
              <a:rPr lang="en-US" sz="1800" dirty="0"/>
              <a:t>Pivot Table for Guest Purpose Count</a:t>
            </a:r>
            <a:br>
              <a:rPr lang="en-US" sz="1800" dirty="0"/>
            </a:br>
            <a:r>
              <a:rPr lang="en-US" sz="1800" dirty="0"/>
              <a:t> ● Create a pivot table to count how many guests had each "Purpose" (Business, Vacation, Function). </a:t>
            </a:r>
            <a:br>
              <a:rPr lang="en-US" sz="1800" dirty="0"/>
            </a:br>
            <a:r>
              <a:rPr lang="en-US" sz="1800" dirty="0"/>
              <a:t>● What is the total count of guests for each purpose? Which purpose has the most guests</a:t>
            </a:r>
            <a:endParaRPr lang="en-IN" sz="1800" dirty="0"/>
          </a:p>
        </p:txBody>
      </p:sp>
      <p:graphicFrame>
        <p:nvGraphicFramePr>
          <p:cNvPr id="5" name="Content Placeholder 4">
            <a:extLst>
              <a:ext uri="{FF2B5EF4-FFF2-40B4-BE49-F238E27FC236}">
                <a16:creationId xmlns:a16="http://schemas.microsoft.com/office/drawing/2014/main" id="{EC6A7366-E66F-8EA0-1FCB-E9FCA5A053CD}"/>
              </a:ext>
            </a:extLst>
          </p:cNvPr>
          <p:cNvGraphicFramePr>
            <a:graphicFrameLocks noGrp="1"/>
          </p:cNvGraphicFramePr>
          <p:nvPr>
            <p:ph sz="half" idx="1"/>
            <p:extLst>
              <p:ext uri="{D42A27DB-BD31-4B8C-83A1-F6EECF244321}">
                <p14:modId xmlns:p14="http://schemas.microsoft.com/office/powerpoint/2010/main" val="3700134712"/>
              </p:ext>
            </p:extLst>
          </p:nvPr>
        </p:nvGraphicFramePr>
        <p:xfrm>
          <a:off x="838200" y="2165683"/>
          <a:ext cx="5017168" cy="3737812"/>
        </p:xfrm>
        <a:graphic>
          <a:graphicData uri="http://schemas.openxmlformats.org/drawingml/2006/table">
            <a:tbl>
              <a:tblPr>
                <a:tableStyleId>{5C22544A-7EE6-4342-B048-85BDC9FD1C3A}</a:tableStyleId>
              </a:tblPr>
              <a:tblGrid>
                <a:gridCol w="2092101">
                  <a:extLst>
                    <a:ext uri="{9D8B030D-6E8A-4147-A177-3AD203B41FA5}">
                      <a16:colId xmlns:a16="http://schemas.microsoft.com/office/drawing/2014/main" val="2072998935"/>
                    </a:ext>
                  </a:extLst>
                </a:gridCol>
                <a:gridCol w="2925067">
                  <a:extLst>
                    <a:ext uri="{9D8B030D-6E8A-4147-A177-3AD203B41FA5}">
                      <a16:colId xmlns:a16="http://schemas.microsoft.com/office/drawing/2014/main" val="172088748"/>
                    </a:ext>
                  </a:extLst>
                </a:gridCol>
              </a:tblGrid>
              <a:tr h="675508">
                <a:tc>
                  <a:txBody>
                    <a:bodyPr/>
                    <a:lstStyle/>
                    <a:p>
                      <a:pPr algn="ctr" fontAlgn="b">
                        <a:buNone/>
                      </a:pPr>
                      <a:r>
                        <a:rPr lang="en-IN" sz="1100" u="none" strike="noStrike" dirty="0">
                          <a:effectLst/>
                        </a:rPr>
                        <a:t>Row Labels</a:t>
                      </a:r>
                      <a:endParaRPr lang="en-IN" sz="1100" b="1" i="0" u="none" strike="noStrike" dirty="0">
                        <a:solidFill>
                          <a:srgbClr val="FFFFFF"/>
                        </a:solidFill>
                        <a:effectLst/>
                        <a:latin typeface="Times New Roman" panose="02020603050405020304" pitchFamily="18" charset="0"/>
                      </a:endParaRPr>
                    </a:p>
                  </a:txBody>
                  <a:tcPr marL="7620" marR="7620" marT="7620" marB="0" anchor="b"/>
                </a:tc>
                <a:tc>
                  <a:txBody>
                    <a:bodyPr/>
                    <a:lstStyle/>
                    <a:p>
                      <a:pPr algn="ctr" fontAlgn="b">
                        <a:buNone/>
                      </a:pPr>
                      <a:r>
                        <a:rPr lang="en-IN" sz="1100" u="none" strike="noStrike" dirty="0">
                          <a:effectLst/>
                        </a:rPr>
                        <a:t>Count of Purpose</a:t>
                      </a:r>
                      <a:endParaRPr lang="en-IN" sz="1100" b="1" i="0" u="none" strike="noStrike" dirty="0">
                        <a:solidFill>
                          <a:srgbClr val="FFFFFF"/>
                        </a:solidFill>
                        <a:effectLst/>
                        <a:latin typeface="Times New Roman" panose="02020603050405020304" pitchFamily="18" charset="0"/>
                      </a:endParaRPr>
                    </a:p>
                  </a:txBody>
                  <a:tcPr marL="7620" marR="7620" marT="7620" marB="0" anchor="b"/>
                </a:tc>
                <a:extLst>
                  <a:ext uri="{0D108BD9-81ED-4DB2-BD59-A6C34878D82A}">
                    <a16:rowId xmlns:a16="http://schemas.microsoft.com/office/drawing/2014/main" val="1456793776"/>
                  </a:ext>
                </a:extLst>
              </a:tr>
              <a:tr h="675508">
                <a:tc>
                  <a:txBody>
                    <a:bodyPr/>
                    <a:lstStyle/>
                    <a:p>
                      <a:pPr algn="ctr" fontAlgn="b">
                        <a:buNone/>
                      </a:pPr>
                      <a:r>
                        <a:rPr lang="en-IN" sz="1100" u="none" strike="noStrike">
                          <a:effectLst/>
                        </a:rPr>
                        <a:t>Other</a:t>
                      </a:r>
                      <a:endParaRPr lang="en-IN" sz="11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IN" sz="1100" u="none" strike="noStrike">
                          <a:effectLst/>
                        </a:rPr>
                        <a:t>134</a:t>
                      </a:r>
                      <a:endParaRPr lang="en-IN" sz="1100" b="0" i="0" u="none" strike="noStrike">
                        <a:solidFill>
                          <a:srgbClr val="000000"/>
                        </a:solidFill>
                        <a:effectLst/>
                        <a:latin typeface="Times New Roman" panose="02020603050405020304" pitchFamily="18" charset="0"/>
                      </a:endParaRPr>
                    </a:p>
                  </a:txBody>
                  <a:tcPr marL="7620" marR="7620" marT="7620" marB="0" anchor="b"/>
                </a:tc>
                <a:extLst>
                  <a:ext uri="{0D108BD9-81ED-4DB2-BD59-A6C34878D82A}">
                    <a16:rowId xmlns:a16="http://schemas.microsoft.com/office/drawing/2014/main" val="409358534"/>
                  </a:ext>
                </a:extLst>
              </a:tr>
              <a:tr h="675508">
                <a:tc>
                  <a:txBody>
                    <a:bodyPr/>
                    <a:lstStyle/>
                    <a:p>
                      <a:pPr algn="ctr" fontAlgn="b">
                        <a:buNone/>
                      </a:pPr>
                      <a:r>
                        <a:rPr lang="en-IN" sz="1100" u="none" strike="noStrike">
                          <a:effectLst/>
                        </a:rPr>
                        <a:t>Function</a:t>
                      </a:r>
                      <a:endParaRPr lang="en-IN" sz="11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IN" sz="1100" u="none" strike="noStrike">
                          <a:effectLst/>
                        </a:rPr>
                        <a:t>292</a:t>
                      </a:r>
                      <a:endParaRPr lang="en-IN" sz="1100" b="0" i="0" u="none" strike="noStrike">
                        <a:solidFill>
                          <a:srgbClr val="000000"/>
                        </a:solidFill>
                        <a:effectLst/>
                        <a:latin typeface="Times New Roman" panose="02020603050405020304" pitchFamily="18" charset="0"/>
                      </a:endParaRPr>
                    </a:p>
                  </a:txBody>
                  <a:tcPr marL="7620" marR="7620" marT="7620" marB="0" anchor="b"/>
                </a:tc>
                <a:extLst>
                  <a:ext uri="{0D108BD9-81ED-4DB2-BD59-A6C34878D82A}">
                    <a16:rowId xmlns:a16="http://schemas.microsoft.com/office/drawing/2014/main" val="3431838546"/>
                  </a:ext>
                </a:extLst>
              </a:tr>
              <a:tr h="675508">
                <a:tc>
                  <a:txBody>
                    <a:bodyPr/>
                    <a:lstStyle/>
                    <a:p>
                      <a:pPr algn="ctr" fontAlgn="b">
                        <a:buNone/>
                      </a:pPr>
                      <a:r>
                        <a:rPr lang="en-IN" sz="1100" u="none" strike="noStrike">
                          <a:effectLst/>
                        </a:rPr>
                        <a:t>Vacation</a:t>
                      </a:r>
                      <a:endParaRPr lang="en-IN" sz="11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IN" sz="1100" u="none" strike="noStrike">
                          <a:effectLst/>
                        </a:rPr>
                        <a:t>693</a:t>
                      </a:r>
                      <a:endParaRPr lang="en-IN" sz="1100" b="0" i="0" u="none" strike="noStrike">
                        <a:solidFill>
                          <a:srgbClr val="000000"/>
                        </a:solidFill>
                        <a:effectLst/>
                        <a:latin typeface="Times New Roman" panose="02020603050405020304" pitchFamily="18" charset="0"/>
                      </a:endParaRPr>
                    </a:p>
                  </a:txBody>
                  <a:tcPr marL="7620" marR="7620" marT="7620" marB="0" anchor="b"/>
                </a:tc>
                <a:extLst>
                  <a:ext uri="{0D108BD9-81ED-4DB2-BD59-A6C34878D82A}">
                    <a16:rowId xmlns:a16="http://schemas.microsoft.com/office/drawing/2014/main" val="4016765627"/>
                  </a:ext>
                </a:extLst>
              </a:tr>
              <a:tr h="517890">
                <a:tc>
                  <a:txBody>
                    <a:bodyPr/>
                    <a:lstStyle/>
                    <a:p>
                      <a:pPr algn="ctr" fontAlgn="b">
                        <a:buNone/>
                      </a:pPr>
                      <a:r>
                        <a:rPr lang="en-IN" sz="1100" u="none" strike="noStrike">
                          <a:effectLst/>
                        </a:rPr>
                        <a:t>Business</a:t>
                      </a:r>
                      <a:endParaRPr lang="en-IN" sz="11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IN" sz="1100" u="none" strike="noStrike">
                          <a:effectLst/>
                        </a:rPr>
                        <a:t>828</a:t>
                      </a:r>
                      <a:endParaRPr lang="en-IN" sz="1100" b="0" i="0" u="none" strike="noStrike">
                        <a:solidFill>
                          <a:srgbClr val="000000"/>
                        </a:solidFill>
                        <a:effectLst/>
                        <a:latin typeface="Times New Roman" panose="02020603050405020304" pitchFamily="18" charset="0"/>
                      </a:endParaRPr>
                    </a:p>
                  </a:txBody>
                  <a:tcPr marL="7620" marR="7620" marT="7620" marB="0" anchor="b"/>
                </a:tc>
                <a:extLst>
                  <a:ext uri="{0D108BD9-81ED-4DB2-BD59-A6C34878D82A}">
                    <a16:rowId xmlns:a16="http://schemas.microsoft.com/office/drawing/2014/main" val="2894126722"/>
                  </a:ext>
                </a:extLst>
              </a:tr>
              <a:tr h="517890">
                <a:tc>
                  <a:txBody>
                    <a:bodyPr/>
                    <a:lstStyle/>
                    <a:p>
                      <a:pPr algn="ctr" fontAlgn="b">
                        <a:buNone/>
                      </a:pPr>
                      <a:r>
                        <a:rPr lang="en-IN" sz="1100" u="none" strike="noStrike">
                          <a:effectLst/>
                        </a:rPr>
                        <a:t>Grand Total</a:t>
                      </a:r>
                      <a:endParaRPr lang="en-IN" sz="1100" b="1"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IN" sz="1100" u="none" strike="noStrike" dirty="0">
                          <a:effectLst/>
                        </a:rPr>
                        <a:t>1947</a:t>
                      </a:r>
                      <a:endParaRPr lang="en-IN" sz="1100" b="1" i="0" u="none" strike="noStrike" dirty="0">
                        <a:solidFill>
                          <a:srgbClr val="000000"/>
                        </a:solidFill>
                        <a:effectLst/>
                        <a:latin typeface="Times New Roman" panose="02020603050405020304" pitchFamily="18" charset="0"/>
                      </a:endParaRPr>
                    </a:p>
                  </a:txBody>
                  <a:tcPr marL="7620" marR="7620" marT="7620" marB="0" anchor="b"/>
                </a:tc>
                <a:extLst>
                  <a:ext uri="{0D108BD9-81ED-4DB2-BD59-A6C34878D82A}">
                    <a16:rowId xmlns:a16="http://schemas.microsoft.com/office/drawing/2014/main" val="2451250563"/>
                  </a:ext>
                </a:extLst>
              </a:tr>
            </a:tbl>
          </a:graphicData>
        </a:graphic>
      </p:graphicFrame>
      <p:sp>
        <p:nvSpPr>
          <p:cNvPr id="4" name="Content Placeholder 3">
            <a:extLst>
              <a:ext uri="{FF2B5EF4-FFF2-40B4-BE49-F238E27FC236}">
                <a16:creationId xmlns:a16="http://schemas.microsoft.com/office/drawing/2014/main" id="{0F1A10A8-F8E1-D766-BE21-3891AF777003}"/>
              </a:ext>
            </a:extLst>
          </p:cNvPr>
          <p:cNvSpPr>
            <a:spLocks noGrp="1"/>
          </p:cNvSpPr>
          <p:nvPr>
            <p:ph sz="half" idx="2"/>
          </p:nvPr>
        </p:nvSpPr>
        <p:spPr/>
        <p:txBody>
          <a:bodyPr/>
          <a:lstStyle/>
          <a:p>
            <a:r>
              <a:rPr lang="en-US" dirty="0"/>
              <a:t>As per the data 134 people visited for other purposes </a:t>
            </a:r>
          </a:p>
          <a:p>
            <a:r>
              <a:rPr lang="en-US" dirty="0"/>
              <a:t>292 People visited for the function</a:t>
            </a:r>
          </a:p>
          <a:p>
            <a:r>
              <a:rPr lang="en-US" dirty="0"/>
              <a:t>693 people visited for the vacation</a:t>
            </a:r>
          </a:p>
          <a:p>
            <a:r>
              <a:rPr lang="en-US" dirty="0"/>
              <a:t>828 people visited for the Business purposes , also which is the highest</a:t>
            </a:r>
          </a:p>
          <a:p>
            <a:endParaRPr lang="en-IN" dirty="0"/>
          </a:p>
        </p:txBody>
      </p:sp>
    </p:spTree>
    <p:extLst>
      <p:ext uri="{BB962C8B-B14F-4D97-AF65-F5344CB8AC3E}">
        <p14:creationId xmlns:p14="http://schemas.microsoft.com/office/powerpoint/2010/main" val="2975605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C6B04-3DBC-F482-F057-EA6FF245A1F9}"/>
              </a:ext>
            </a:extLst>
          </p:cNvPr>
          <p:cNvSpPr>
            <a:spLocks noGrp="1"/>
          </p:cNvSpPr>
          <p:nvPr>
            <p:ph type="title"/>
          </p:nvPr>
        </p:nvSpPr>
        <p:spPr/>
        <p:txBody>
          <a:bodyPr>
            <a:normAutofit/>
          </a:bodyPr>
          <a:lstStyle/>
          <a:p>
            <a:r>
              <a:rPr lang="en-US" sz="1800" dirty="0"/>
              <a:t>Pivot Table for Average NPS Rating by Purpose </a:t>
            </a:r>
            <a:br>
              <a:rPr lang="en-US" sz="1800" dirty="0"/>
            </a:br>
            <a:r>
              <a:rPr lang="en-US" sz="1800" dirty="0"/>
              <a:t>● Create a pivot table to calculate the average "NPS RATING" for each guest "Purpose." </a:t>
            </a:r>
            <a:br>
              <a:rPr lang="en-US" sz="1800" dirty="0"/>
            </a:br>
            <a:r>
              <a:rPr lang="en-US" sz="1800" dirty="0"/>
              <a:t>● What is the average NPS Rating for each purpose? Which purpose shows the highest guest satisfaction</a:t>
            </a:r>
            <a:endParaRPr lang="en-IN" sz="1800" dirty="0"/>
          </a:p>
        </p:txBody>
      </p:sp>
      <p:graphicFrame>
        <p:nvGraphicFramePr>
          <p:cNvPr id="5" name="Content Placeholder 4">
            <a:extLst>
              <a:ext uri="{FF2B5EF4-FFF2-40B4-BE49-F238E27FC236}">
                <a16:creationId xmlns:a16="http://schemas.microsoft.com/office/drawing/2014/main" id="{C60AFEF6-13C9-CC2A-0D32-AA7E7F7A04C9}"/>
              </a:ext>
            </a:extLst>
          </p:cNvPr>
          <p:cNvGraphicFramePr>
            <a:graphicFrameLocks noGrp="1"/>
          </p:cNvGraphicFramePr>
          <p:nvPr>
            <p:ph sz="half" idx="1"/>
            <p:extLst>
              <p:ext uri="{D42A27DB-BD31-4B8C-83A1-F6EECF244321}">
                <p14:modId xmlns:p14="http://schemas.microsoft.com/office/powerpoint/2010/main" val="2332091910"/>
              </p:ext>
            </p:extLst>
          </p:nvPr>
        </p:nvGraphicFramePr>
        <p:xfrm>
          <a:off x="838199" y="2037347"/>
          <a:ext cx="5181599" cy="3946358"/>
        </p:xfrm>
        <a:graphic>
          <a:graphicData uri="http://schemas.openxmlformats.org/drawingml/2006/table">
            <a:tbl>
              <a:tblPr>
                <a:tableStyleId>{5C22544A-7EE6-4342-B048-85BDC9FD1C3A}</a:tableStyleId>
              </a:tblPr>
              <a:tblGrid>
                <a:gridCol w="2160667">
                  <a:extLst>
                    <a:ext uri="{9D8B030D-6E8A-4147-A177-3AD203B41FA5}">
                      <a16:colId xmlns:a16="http://schemas.microsoft.com/office/drawing/2014/main" val="1520723521"/>
                    </a:ext>
                  </a:extLst>
                </a:gridCol>
                <a:gridCol w="3020932">
                  <a:extLst>
                    <a:ext uri="{9D8B030D-6E8A-4147-A177-3AD203B41FA5}">
                      <a16:colId xmlns:a16="http://schemas.microsoft.com/office/drawing/2014/main" val="1466126759"/>
                    </a:ext>
                  </a:extLst>
                </a:gridCol>
              </a:tblGrid>
              <a:tr h="713197">
                <a:tc>
                  <a:txBody>
                    <a:bodyPr/>
                    <a:lstStyle/>
                    <a:p>
                      <a:pPr algn="ctr" fontAlgn="b">
                        <a:buNone/>
                      </a:pPr>
                      <a:r>
                        <a:rPr lang="en-IN" sz="1100" u="none" strike="noStrike">
                          <a:effectLst/>
                        </a:rPr>
                        <a:t>Purposes</a:t>
                      </a:r>
                      <a:endParaRPr lang="en-IN" sz="1100" b="1" i="0" u="none" strike="noStrike">
                        <a:solidFill>
                          <a:srgbClr val="FFFFFF"/>
                        </a:solidFill>
                        <a:effectLst/>
                        <a:latin typeface="Times New Roman" panose="02020603050405020304" pitchFamily="18" charset="0"/>
                      </a:endParaRPr>
                    </a:p>
                  </a:txBody>
                  <a:tcPr marL="7620" marR="7620" marT="7620" marB="0" anchor="b"/>
                </a:tc>
                <a:tc>
                  <a:txBody>
                    <a:bodyPr/>
                    <a:lstStyle/>
                    <a:p>
                      <a:pPr algn="ctr" fontAlgn="b">
                        <a:buNone/>
                      </a:pPr>
                      <a:r>
                        <a:rPr lang="en-IN" sz="1100" u="none" strike="noStrike">
                          <a:effectLst/>
                        </a:rPr>
                        <a:t>Average of NPS RATING</a:t>
                      </a:r>
                      <a:endParaRPr lang="en-IN" sz="1100" b="1" i="0" u="none" strike="noStrike">
                        <a:solidFill>
                          <a:srgbClr val="FFFFFF"/>
                        </a:solidFill>
                        <a:effectLst/>
                        <a:latin typeface="Times New Roman" panose="02020603050405020304" pitchFamily="18" charset="0"/>
                      </a:endParaRPr>
                    </a:p>
                  </a:txBody>
                  <a:tcPr marL="7620" marR="7620" marT="7620" marB="0" anchor="b"/>
                </a:tc>
                <a:extLst>
                  <a:ext uri="{0D108BD9-81ED-4DB2-BD59-A6C34878D82A}">
                    <a16:rowId xmlns:a16="http://schemas.microsoft.com/office/drawing/2014/main" val="2370664151"/>
                  </a:ext>
                </a:extLst>
              </a:tr>
              <a:tr h="713197">
                <a:tc>
                  <a:txBody>
                    <a:bodyPr/>
                    <a:lstStyle/>
                    <a:p>
                      <a:pPr algn="ctr" fontAlgn="b">
                        <a:buNone/>
                      </a:pPr>
                      <a:r>
                        <a:rPr lang="en-IN" sz="1100" u="none" strike="noStrike">
                          <a:effectLst/>
                        </a:rPr>
                        <a:t>Function</a:t>
                      </a:r>
                      <a:endParaRPr lang="en-IN" sz="11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IN" sz="1100" u="none" strike="noStrike">
                          <a:effectLst/>
                        </a:rPr>
                        <a:t>7.520547945</a:t>
                      </a:r>
                      <a:endParaRPr lang="en-IN" sz="1100" b="0" i="0" u="none" strike="noStrike">
                        <a:solidFill>
                          <a:srgbClr val="000000"/>
                        </a:solidFill>
                        <a:effectLst/>
                        <a:latin typeface="Times New Roman" panose="02020603050405020304" pitchFamily="18" charset="0"/>
                      </a:endParaRPr>
                    </a:p>
                  </a:txBody>
                  <a:tcPr marL="7620" marR="7620" marT="7620" marB="0" anchor="b"/>
                </a:tc>
                <a:extLst>
                  <a:ext uri="{0D108BD9-81ED-4DB2-BD59-A6C34878D82A}">
                    <a16:rowId xmlns:a16="http://schemas.microsoft.com/office/drawing/2014/main" val="1933791239"/>
                  </a:ext>
                </a:extLst>
              </a:tr>
              <a:tr h="713197">
                <a:tc>
                  <a:txBody>
                    <a:bodyPr/>
                    <a:lstStyle/>
                    <a:p>
                      <a:pPr algn="ctr" fontAlgn="b">
                        <a:buNone/>
                      </a:pPr>
                      <a:r>
                        <a:rPr lang="en-IN" sz="1100" u="none" strike="noStrike">
                          <a:effectLst/>
                        </a:rPr>
                        <a:t>Business</a:t>
                      </a:r>
                      <a:endParaRPr lang="en-IN" sz="11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IN" sz="1100" u="none" strike="noStrike">
                          <a:effectLst/>
                        </a:rPr>
                        <a:t>7.599033816</a:t>
                      </a:r>
                      <a:endParaRPr lang="en-IN" sz="1100" b="0" i="0" u="none" strike="noStrike">
                        <a:solidFill>
                          <a:srgbClr val="000000"/>
                        </a:solidFill>
                        <a:effectLst/>
                        <a:latin typeface="Times New Roman" panose="02020603050405020304" pitchFamily="18" charset="0"/>
                      </a:endParaRPr>
                    </a:p>
                  </a:txBody>
                  <a:tcPr marL="7620" marR="7620" marT="7620" marB="0" anchor="b"/>
                </a:tc>
                <a:extLst>
                  <a:ext uri="{0D108BD9-81ED-4DB2-BD59-A6C34878D82A}">
                    <a16:rowId xmlns:a16="http://schemas.microsoft.com/office/drawing/2014/main" val="2070571155"/>
                  </a:ext>
                </a:extLst>
              </a:tr>
              <a:tr h="713197">
                <a:tc>
                  <a:txBody>
                    <a:bodyPr/>
                    <a:lstStyle/>
                    <a:p>
                      <a:pPr algn="ctr" fontAlgn="b">
                        <a:buNone/>
                      </a:pPr>
                      <a:r>
                        <a:rPr lang="en-IN" sz="1100" u="none" strike="noStrike">
                          <a:effectLst/>
                        </a:rPr>
                        <a:t>Vacation</a:t>
                      </a:r>
                      <a:endParaRPr lang="en-IN" sz="11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IN" sz="1100" u="none" strike="noStrike" dirty="0">
                          <a:effectLst/>
                        </a:rPr>
                        <a:t>7.649350649</a:t>
                      </a:r>
                      <a:endParaRPr lang="en-IN" sz="1100" b="0" i="0" u="none" strike="noStrike" dirty="0">
                        <a:solidFill>
                          <a:srgbClr val="000000"/>
                        </a:solidFill>
                        <a:effectLst/>
                        <a:latin typeface="Times New Roman" panose="02020603050405020304" pitchFamily="18" charset="0"/>
                      </a:endParaRPr>
                    </a:p>
                  </a:txBody>
                  <a:tcPr marL="7620" marR="7620" marT="7620" marB="0" anchor="b"/>
                </a:tc>
                <a:extLst>
                  <a:ext uri="{0D108BD9-81ED-4DB2-BD59-A6C34878D82A}">
                    <a16:rowId xmlns:a16="http://schemas.microsoft.com/office/drawing/2014/main" val="688425971"/>
                  </a:ext>
                </a:extLst>
              </a:tr>
              <a:tr h="546785">
                <a:tc>
                  <a:txBody>
                    <a:bodyPr/>
                    <a:lstStyle/>
                    <a:p>
                      <a:pPr algn="ctr" fontAlgn="b">
                        <a:buNone/>
                      </a:pPr>
                      <a:r>
                        <a:rPr lang="en-IN" sz="1100" u="none" strike="noStrike">
                          <a:effectLst/>
                        </a:rPr>
                        <a:t>Other</a:t>
                      </a:r>
                      <a:endParaRPr lang="en-IN" sz="11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IN" sz="1100" u="none" strike="noStrike">
                          <a:effectLst/>
                        </a:rPr>
                        <a:t>7.679104478</a:t>
                      </a:r>
                      <a:endParaRPr lang="en-IN" sz="1100" b="0" i="0" u="none" strike="noStrike">
                        <a:solidFill>
                          <a:srgbClr val="000000"/>
                        </a:solidFill>
                        <a:effectLst/>
                        <a:latin typeface="Times New Roman" panose="02020603050405020304" pitchFamily="18" charset="0"/>
                      </a:endParaRPr>
                    </a:p>
                  </a:txBody>
                  <a:tcPr marL="7620" marR="7620" marT="7620" marB="0" anchor="b"/>
                </a:tc>
                <a:extLst>
                  <a:ext uri="{0D108BD9-81ED-4DB2-BD59-A6C34878D82A}">
                    <a16:rowId xmlns:a16="http://schemas.microsoft.com/office/drawing/2014/main" val="3400084223"/>
                  </a:ext>
                </a:extLst>
              </a:tr>
              <a:tr h="546785">
                <a:tc>
                  <a:txBody>
                    <a:bodyPr/>
                    <a:lstStyle/>
                    <a:p>
                      <a:pPr algn="ctr" fontAlgn="b">
                        <a:buNone/>
                      </a:pPr>
                      <a:r>
                        <a:rPr lang="en-IN" sz="1100" u="none" strike="noStrike">
                          <a:effectLst/>
                        </a:rPr>
                        <a:t>Grand Total</a:t>
                      </a:r>
                      <a:endParaRPr lang="en-IN" sz="1100" b="1"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IN" sz="1100" u="none" strike="noStrike" dirty="0">
                          <a:effectLst/>
                        </a:rPr>
                        <a:t>7.610683102</a:t>
                      </a:r>
                      <a:endParaRPr lang="en-IN" sz="1100" b="1" i="0" u="none" strike="noStrike" dirty="0">
                        <a:solidFill>
                          <a:srgbClr val="000000"/>
                        </a:solidFill>
                        <a:effectLst/>
                        <a:latin typeface="Times New Roman" panose="02020603050405020304" pitchFamily="18" charset="0"/>
                      </a:endParaRPr>
                    </a:p>
                  </a:txBody>
                  <a:tcPr marL="7620" marR="7620" marT="7620" marB="0" anchor="b"/>
                </a:tc>
                <a:extLst>
                  <a:ext uri="{0D108BD9-81ED-4DB2-BD59-A6C34878D82A}">
                    <a16:rowId xmlns:a16="http://schemas.microsoft.com/office/drawing/2014/main" val="625519604"/>
                  </a:ext>
                </a:extLst>
              </a:tr>
            </a:tbl>
          </a:graphicData>
        </a:graphic>
      </p:graphicFrame>
      <p:sp>
        <p:nvSpPr>
          <p:cNvPr id="4" name="Content Placeholder 3">
            <a:extLst>
              <a:ext uri="{FF2B5EF4-FFF2-40B4-BE49-F238E27FC236}">
                <a16:creationId xmlns:a16="http://schemas.microsoft.com/office/drawing/2014/main" id="{7DEBFA0B-3E7F-6244-AEC2-5A19D6CCC88A}"/>
              </a:ext>
            </a:extLst>
          </p:cNvPr>
          <p:cNvSpPr>
            <a:spLocks noGrp="1"/>
          </p:cNvSpPr>
          <p:nvPr>
            <p:ph sz="half" idx="2"/>
          </p:nvPr>
        </p:nvSpPr>
        <p:spPr/>
        <p:txBody>
          <a:bodyPr/>
          <a:lstStyle/>
          <a:p>
            <a:r>
              <a:rPr lang="en-US" dirty="0"/>
              <a:t>As per the data Avg NPS rating of function is 7.52</a:t>
            </a:r>
          </a:p>
          <a:p>
            <a:r>
              <a:rPr lang="en-US" dirty="0"/>
              <a:t>Business has and average rating 7.59</a:t>
            </a:r>
          </a:p>
          <a:p>
            <a:r>
              <a:rPr lang="en-US" dirty="0"/>
              <a:t>Vacation has and average rating 7.64</a:t>
            </a:r>
          </a:p>
          <a:p>
            <a:r>
              <a:rPr lang="en-US" dirty="0"/>
              <a:t>Other has and average rating 7.67</a:t>
            </a:r>
          </a:p>
          <a:p>
            <a:endParaRPr lang="en-US" dirty="0"/>
          </a:p>
          <a:p>
            <a:endParaRPr lang="en-IN" dirty="0"/>
          </a:p>
        </p:txBody>
      </p:sp>
    </p:spTree>
    <p:extLst>
      <p:ext uri="{BB962C8B-B14F-4D97-AF65-F5344CB8AC3E}">
        <p14:creationId xmlns:p14="http://schemas.microsoft.com/office/powerpoint/2010/main" val="3387330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40D30-09BD-C547-C4FF-65A5324BE91A}"/>
              </a:ext>
            </a:extLst>
          </p:cNvPr>
          <p:cNvSpPr>
            <a:spLocks noGrp="1"/>
          </p:cNvSpPr>
          <p:nvPr>
            <p:ph type="title"/>
          </p:nvPr>
        </p:nvSpPr>
        <p:spPr/>
        <p:txBody>
          <a:bodyPr>
            <a:normAutofit fontScale="90000"/>
          </a:bodyPr>
          <a:lstStyle/>
          <a:p>
            <a:r>
              <a:rPr lang="en-US" sz="2000" dirty="0"/>
              <a:t>Pivot Table for Overall Experience by Feedback Category</a:t>
            </a:r>
            <a:br>
              <a:rPr lang="en-US" sz="2000" dirty="0"/>
            </a:br>
            <a:r>
              <a:rPr lang="en-US" sz="2000" dirty="0"/>
              <a:t> ● Create a pivot table to find the average "Overall Experience" for each "Feedback Category" (Staff, Room, Restaurant, Facility). </a:t>
            </a:r>
            <a:br>
              <a:rPr lang="en-US" sz="2000" dirty="0"/>
            </a:br>
            <a:r>
              <a:rPr lang="en-US" sz="2000" dirty="0"/>
              <a:t>● Which feedback category has the best overall experience rating? How do the categories compare</a:t>
            </a:r>
            <a:endParaRPr lang="en-IN" sz="2000" dirty="0"/>
          </a:p>
        </p:txBody>
      </p:sp>
      <p:graphicFrame>
        <p:nvGraphicFramePr>
          <p:cNvPr id="5" name="Content Placeholder 4">
            <a:extLst>
              <a:ext uri="{FF2B5EF4-FFF2-40B4-BE49-F238E27FC236}">
                <a16:creationId xmlns:a16="http://schemas.microsoft.com/office/drawing/2014/main" id="{3B3DB8F6-24B2-43F3-A370-3F373315C0F2}"/>
              </a:ext>
            </a:extLst>
          </p:cNvPr>
          <p:cNvGraphicFramePr>
            <a:graphicFrameLocks noGrp="1"/>
          </p:cNvGraphicFramePr>
          <p:nvPr>
            <p:ph sz="half" idx="1"/>
            <p:extLst>
              <p:ext uri="{D42A27DB-BD31-4B8C-83A1-F6EECF244321}">
                <p14:modId xmlns:p14="http://schemas.microsoft.com/office/powerpoint/2010/main" val="650494900"/>
              </p:ext>
            </p:extLst>
          </p:nvPr>
        </p:nvGraphicFramePr>
        <p:xfrm>
          <a:off x="838199" y="1825624"/>
          <a:ext cx="5181599" cy="4029741"/>
        </p:xfrm>
        <a:graphic>
          <a:graphicData uri="http://schemas.openxmlformats.org/drawingml/2006/table">
            <a:tbl>
              <a:tblPr>
                <a:tableStyleId>{5C22544A-7EE6-4342-B048-85BDC9FD1C3A}</a:tableStyleId>
              </a:tblPr>
              <a:tblGrid>
                <a:gridCol w="2160667">
                  <a:extLst>
                    <a:ext uri="{9D8B030D-6E8A-4147-A177-3AD203B41FA5}">
                      <a16:colId xmlns:a16="http://schemas.microsoft.com/office/drawing/2014/main" val="2449312499"/>
                    </a:ext>
                  </a:extLst>
                </a:gridCol>
                <a:gridCol w="3020932">
                  <a:extLst>
                    <a:ext uri="{9D8B030D-6E8A-4147-A177-3AD203B41FA5}">
                      <a16:colId xmlns:a16="http://schemas.microsoft.com/office/drawing/2014/main" val="4232690718"/>
                    </a:ext>
                  </a:extLst>
                </a:gridCol>
              </a:tblGrid>
              <a:tr h="1042174">
                <a:tc>
                  <a:txBody>
                    <a:bodyPr/>
                    <a:lstStyle/>
                    <a:p>
                      <a:pPr algn="ctr" fontAlgn="b">
                        <a:buNone/>
                      </a:pPr>
                      <a:r>
                        <a:rPr lang="en-IN" sz="1100" u="none" strike="noStrike">
                          <a:effectLst/>
                        </a:rPr>
                        <a:t>Feedback Category</a:t>
                      </a:r>
                      <a:endParaRPr lang="en-IN" sz="1100" b="1" i="0" u="none" strike="noStrike">
                        <a:solidFill>
                          <a:srgbClr val="FFFFFF"/>
                        </a:solidFill>
                        <a:effectLst/>
                        <a:latin typeface="Times New Roman" panose="02020603050405020304" pitchFamily="18" charset="0"/>
                      </a:endParaRPr>
                    </a:p>
                  </a:txBody>
                  <a:tcPr marL="7620" marR="7620" marT="7620" marB="0" anchor="b"/>
                </a:tc>
                <a:tc>
                  <a:txBody>
                    <a:bodyPr/>
                    <a:lstStyle/>
                    <a:p>
                      <a:pPr algn="ctr" fontAlgn="b">
                        <a:buNone/>
                      </a:pPr>
                      <a:r>
                        <a:rPr lang="en-IN" sz="1100" u="none" strike="noStrike">
                          <a:effectLst/>
                        </a:rPr>
                        <a:t>Average of Overall Experience</a:t>
                      </a:r>
                      <a:endParaRPr lang="en-IN" sz="1100" b="1" i="0" u="none" strike="noStrike">
                        <a:solidFill>
                          <a:srgbClr val="FFFFFF"/>
                        </a:solidFill>
                        <a:effectLst/>
                        <a:latin typeface="Times New Roman" panose="02020603050405020304" pitchFamily="18" charset="0"/>
                      </a:endParaRPr>
                    </a:p>
                  </a:txBody>
                  <a:tcPr marL="7620" marR="7620" marT="7620" marB="0" anchor="b"/>
                </a:tc>
                <a:extLst>
                  <a:ext uri="{0D108BD9-81ED-4DB2-BD59-A6C34878D82A}">
                    <a16:rowId xmlns:a16="http://schemas.microsoft.com/office/drawing/2014/main" val="3059189992"/>
                  </a:ext>
                </a:extLst>
              </a:tr>
              <a:tr h="694783">
                <a:tc>
                  <a:txBody>
                    <a:bodyPr/>
                    <a:lstStyle/>
                    <a:p>
                      <a:pPr algn="ctr" fontAlgn="b">
                        <a:buNone/>
                      </a:pPr>
                      <a:r>
                        <a:rPr lang="en-IN" sz="1100" u="none" strike="noStrike">
                          <a:effectLst/>
                        </a:rPr>
                        <a:t>Room</a:t>
                      </a:r>
                      <a:endParaRPr lang="en-IN" sz="11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IN" sz="1100" u="none" strike="noStrike">
                          <a:effectLst/>
                        </a:rPr>
                        <a:t>3.555327869</a:t>
                      </a:r>
                      <a:endParaRPr lang="en-IN" sz="1100" b="0" i="0" u="none" strike="noStrike">
                        <a:solidFill>
                          <a:srgbClr val="000000"/>
                        </a:solidFill>
                        <a:effectLst/>
                        <a:latin typeface="Times New Roman" panose="02020603050405020304" pitchFamily="18" charset="0"/>
                      </a:endParaRPr>
                    </a:p>
                  </a:txBody>
                  <a:tcPr marL="7620" marR="7620" marT="7620" marB="0" anchor="b"/>
                </a:tc>
                <a:extLst>
                  <a:ext uri="{0D108BD9-81ED-4DB2-BD59-A6C34878D82A}">
                    <a16:rowId xmlns:a16="http://schemas.microsoft.com/office/drawing/2014/main" val="1082632882"/>
                  </a:ext>
                </a:extLst>
              </a:tr>
              <a:tr h="694783">
                <a:tc>
                  <a:txBody>
                    <a:bodyPr/>
                    <a:lstStyle/>
                    <a:p>
                      <a:pPr algn="ctr" fontAlgn="b">
                        <a:buNone/>
                      </a:pPr>
                      <a:r>
                        <a:rPr lang="en-IN" sz="1100" u="none" strike="noStrike">
                          <a:effectLst/>
                        </a:rPr>
                        <a:t>Restaurant</a:t>
                      </a:r>
                      <a:endParaRPr lang="en-IN" sz="11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IN" sz="1100" u="none" strike="noStrike" dirty="0">
                          <a:effectLst/>
                        </a:rPr>
                        <a:t>3.582304527</a:t>
                      </a:r>
                      <a:endParaRPr lang="en-IN" sz="1100" b="0" i="0" u="none" strike="noStrike" dirty="0">
                        <a:solidFill>
                          <a:srgbClr val="000000"/>
                        </a:solidFill>
                        <a:effectLst/>
                        <a:latin typeface="Times New Roman" panose="02020603050405020304" pitchFamily="18" charset="0"/>
                      </a:endParaRPr>
                    </a:p>
                  </a:txBody>
                  <a:tcPr marL="7620" marR="7620" marT="7620" marB="0" anchor="b"/>
                </a:tc>
                <a:extLst>
                  <a:ext uri="{0D108BD9-81ED-4DB2-BD59-A6C34878D82A}">
                    <a16:rowId xmlns:a16="http://schemas.microsoft.com/office/drawing/2014/main" val="2819407500"/>
                  </a:ext>
                </a:extLst>
              </a:tr>
              <a:tr h="532667">
                <a:tc>
                  <a:txBody>
                    <a:bodyPr/>
                    <a:lstStyle/>
                    <a:p>
                      <a:pPr algn="ctr" fontAlgn="b">
                        <a:buNone/>
                      </a:pPr>
                      <a:r>
                        <a:rPr lang="en-IN" sz="1100" u="none" strike="noStrike">
                          <a:effectLst/>
                        </a:rPr>
                        <a:t>Staff</a:t>
                      </a:r>
                      <a:endParaRPr lang="en-IN" sz="11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IN" sz="1100" u="none" strike="noStrike">
                          <a:effectLst/>
                        </a:rPr>
                        <a:t>3.625</a:t>
                      </a:r>
                      <a:endParaRPr lang="en-IN" sz="1100" b="0" i="0" u="none" strike="noStrike">
                        <a:solidFill>
                          <a:srgbClr val="000000"/>
                        </a:solidFill>
                        <a:effectLst/>
                        <a:latin typeface="Times New Roman" panose="02020603050405020304" pitchFamily="18" charset="0"/>
                      </a:endParaRPr>
                    </a:p>
                  </a:txBody>
                  <a:tcPr marL="7620" marR="7620" marT="7620" marB="0" anchor="b"/>
                </a:tc>
                <a:extLst>
                  <a:ext uri="{0D108BD9-81ED-4DB2-BD59-A6C34878D82A}">
                    <a16:rowId xmlns:a16="http://schemas.microsoft.com/office/drawing/2014/main" val="379256487"/>
                  </a:ext>
                </a:extLst>
              </a:tr>
              <a:tr h="532667">
                <a:tc>
                  <a:txBody>
                    <a:bodyPr/>
                    <a:lstStyle/>
                    <a:p>
                      <a:pPr algn="ctr" fontAlgn="b">
                        <a:buNone/>
                      </a:pPr>
                      <a:r>
                        <a:rPr lang="en-IN" sz="1100" u="none" strike="noStrike">
                          <a:effectLst/>
                        </a:rPr>
                        <a:t>Facility</a:t>
                      </a:r>
                      <a:endParaRPr lang="en-IN" sz="11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IN" sz="1100" u="none" strike="noStrike">
                          <a:effectLst/>
                        </a:rPr>
                        <a:t>3.645360825</a:t>
                      </a:r>
                      <a:endParaRPr lang="en-IN" sz="1100" b="0" i="0" u="none" strike="noStrike">
                        <a:solidFill>
                          <a:srgbClr val="000000"/>
                        </a:solidFill>
                        <a:effectLst/>
                        <a:latin typeface="Times New Roman" panose="02020603050405020304" pitchFamily="18" charset="0"/>
                      </a:endParaRPr>
                    </a:p>
                  </a:txBody>
                  <a:tcPr marL="7620" marR="7620" marT="7620" marB="0" anchor="b"/>
                </a:tc>
                <a:extLst>
                  <a:ext uri="{0D108BD9-81ED-4DB2-BD59-A6C34878D82A}">
                    <a16:rowId xmlns:a16="http://schemas.microsoft.com/office/drawing/2014/main" val="4265544066"/>
                  </a:ext>
                </a:extLst>
              </a:tr>
              <a:tr h="532667">
                <a:tc>
                  <a:txBody>
                    <a:bodyPr/>
                    <a:lstStyle/>
                    <a:p>
                      <a:pPr algn="ctr" fontAlgn="b">
                        <a:buNone/>
                      </a:pPr>
                      <a:r>
                        <a:rPr lang="en-IN" sz="1100" u="none" strike="noStrike">
                          <a:effectLst/>
                        </a:rPr>
                        <a:t>Grand Total</a:t>
                      </a:r>
                      <a:endParaRPr lang="en-IN" sz="1100" b="1"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IN" sz="1100" u="none" strike="noStrike" dirty="0">
                          <a:effectLst/>
                        </a:rPr>
                        <a:t>3.601951721</a:t>
                      </a:r>
                      <a:endParaRPr lang="en-IN" sz="1100" b="1" i="0" u="none" strike="noStrike" dirty="0">
                        <a:solidFill>
                          <a:srgbClr val="000000"/>
                        </a:solidFill>
                        <a:effectLst/>
                        <a:latin typeface="Times New Roman" panose="02020603050405020304" pitchFamily="18" charset="0"/>
                      </a:endParaRPr>
                    </a:p>
                  </a:txBody>
                  <a:tcPr marL="7620" marR="7620" marT="7620" marB="0" anchor="b"/>
                </a:tc>
                <a:extLst>
                  <a:ext uri="{0D108BD9-81ED-4DB2-BD59-A6C34878D82A}">
                    <a16:rowId xmlns:a16="http://schemas.microsoft.com/office/drawing/2014/main" val="1844984751"/>
                  </a:ext>
                </a:extLst>
              </a:tr>
            </a:tbl>
          </a:graphicData>
        </a:graphic>
      </p:graphicFrame>
      <p:sp>
        <p:nvSpPr>
          <p:cNvPr id="4" name="Content Placeholder 3">
            <a:extLst>
              <a:ext uri="{FF2B5EF4-FFF2-40B4-BE49-F238E27FC236}">
                <a16:creationId xmlns:a16="http://schemas.microsoft.com/office/drawing/2014/main" id="{E9125D0D-0487-A18F-FF27-61AC313A4931}"/>
              </a:ext>
            </a:extLst>
          </p:cNvPr>
          <p:cNvSpPr>
            <a:spLocks noGrp="1"/>
          </p:cNvSpPr>
          <p:nvPr>
            <p:ph sz="half" idx="2"/>
          </p:nvPr>
        </p:nvSpPr>
        <p:spPr/>
        <p:txBody>
          <a:bodyPr>
            <a:normAutofit fontScale="92500" lnSpcReduction="10000"/>
          </a:bodyPr>
          <a:lstStyle/>
          <a:p>
            <a:r>
              <a:rPr lang="en-US" dirty="0"/>
              <a:t>Facility has the best overall experience rating among all .</a:t>
            </a:r>
          </a:p>
          <a:p>
            <a:r>
              <a:rPr lang="en-US" dirty="0"/>
              <a:t>The difference between the best (Facility) and the worst (Room) is very small—only 0.09 points. </a:t>
            </a:r>
          </a:p>
          <a:p>
            <a:r>
              <a:rPr lang="en-US" dirty="0"/>
              <a:t>Hotel is performing consistently across all areas, but if you need to prioritize one area for improvement to boost the overall score, it should be the Rooms</a:t>
            </a:r>
          </a:p>
          <a:p>
            <a:endParaRPr lang="en-IN" dirty="0"/>
          </a:p>
        </p:txBody>
      </p:sp>
    </p:spTree>
    <p:extLst>
      <p:ext uri="{BB962C8B-B14F-4D97-AF65-F5344CB8AC3E}">
        <p14:creationId xmlns:p14="http://schemas.microsoft.com/office/powerpoint/2010/main" val="3288917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DC44A-E97B-0928-B37F-EAF270C78739}"/>
              </a:ext>
            </a:extLst>
          </p:cNvPr>
          <p:cNvSpPr>
            <a:spLocks noGrp="1"/>
          </p:cNvSpPr>
          <p:nvPr>
            <p:ph type="title"/>
          </p:nvPr>
        </p:nvSpPr>
        <p:spPr/>
        <p:txBody>
          <a:bodyPr>
            <a:normAutofit fontScale="90000"/>
          </a:bodyPr>
          <a:lstStyle/>
          <a:p>
            <a:r>
              <a:rPr lang="en-US" sz="1800" dirty="0"/>
              <a:t>Pivot Chart for NPS Ratings by Purpose</a:t>
            </a:r>
            <a:br>
              <a:rPr lang="en-US" sz="1800" dirty="0"/>
            </a:br>
            <a:r>
              <a:rPr lang="en-US" sz="1800" dirty="0"/>
              <a:t> ● Using the pivot table from Question 5, create a pivot chart to visualize the average "NPS RATING" for each "Purpose.“</a:t>
            </a:r>
            <a:br>
              <a:rPr lang="en-US" sz="1800" dirty="0"/>
            </a:br>
            <a:r>
              <a:rPr lang="en-US" sz="1800" dirty="0"/>
              <a:t> ● What can you learn from the pivot chart about NPS ratings based on the guest's purpose of stay?</a:t>
            </a:r>
            <a:endParaRPr lang="en-IN" sz="1800" dirty="0"/>
          </a:p>
        </p:txBody>
      </p:sp>
      <p:sp>
        <p:nvSpPr>
          <p:cNvPr id="4" name="Content Placeholder 3">
            <a:extLst>
              <a:ext uri="{FF2B5EF4-FFF2-40B4-BE49-F238E27FC236}">
                <a16:creationId xmlns:a16="http://schemas.microsoft.com/office/drawing/2014/main" id="{DE5D59A6-6318-40F8-EC8E-A7454A187FD0}"/>
              </a:ext>
            </a:extLst>
          </p:cNvPr>
          <p:cNvSpPr>
            <a:spLocks noGrp="1"/>
          </p:cNvSpPr>
          <p:nvPr>
            <p:ph sz="half" idx="2"/>
          </p:nvPr>
        </p:nvSpPr>
        <p:spPr/>
        <p:txBody>
          <a:bodyPr>
            <a:normAutofit fontScale="85000" lnSpcReduction="20000"/>
          </a:bodyPr>
          <a:lstStyle/>
          <a:p>
            <a:r>
              <a:rPr lang="en-US" dirty="0"/>
              <a:t>Guests staying for “Other” purposes and vacations give the highest NPS ratings, showing strong satisfaction among leisure-oriented visitors</a:t>
            </a:r>
          </a:p>
          <a:p>
            <a:r>
              <a:rPr lang="en-US" dirty="0"/>
              <a:t>Business guests follow closely behind. Function/event guests give the lowest ratings, suggesting minor service gaps during events or group stays.</a:t>
            </a:r>
          </a:p>
          <a:p>
            <a:r>
              <a:rPr lang="en-US" dirty="0"/>
              <a:t>Overall, NPS scores are consistently positive across all categories with only small variations.</a:t>
            </a:r>
          </a:p>
          <a:p>
            <a:endParaRPr lang="en-IN" dirty="0"/>
          </a:p>
        </p:txBody>
      </p:sp>
      <p:graphicFrame>
        <p:nvGraphicFramePr>
          <p:cNvPr id="6" name="Content Placeholder 5">
            <a:extLst>
              <a:ext uri="{FF2B5EF4-FFF2-40B4-BE49-F238E27FC236}">
                <a16:creationId xmlns:a16="http://schemas.microsoft.com/office/drawing/2014/main" id="{6668EDB4-07F4-4828-A067-FA5BA3FE84C6}"/>
              </a:ext>
            </a:extLst>
          </p:cNvPr>
          <p:cNvGraphicFramePr>
            <a:graphicFrameLocks noGrp="1"/>
          </p:cNvGraphicFramePr>
          <p:nvPr>
            <p:ph sz="half" idx="1"/>
            <p:extLst>
              <p:ext uri="{D42A27DB-BD31-4B8C-83A1-F6EECF244321}">
                <p14:modId xmlns:p14="http://schemas.microsoft.com/office/powerpoint/2010/main" val="3168564223"/>
              </p:ext>
            </p:extLst>
          </p:nvPr>
        </p:nvGraphicFramePr>
        <p:xfrm>
          <a:off x="838200" y="1825625"/>
          <a:ext cx="5181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75685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A6A7A-B221-C5DB-F77C-53D46041B0D3}"/>
              </a:ext>
            </a:extLst>
          </p:cNvPr>
          <p:cNvSpPr>
            <a:spLocks noGrp="1"/>
          </p:cNvSpPr>
          <p:nvPr>
            <p:ph type="title"/>
          </p:nvPr>
        </p:nvSpPr>
        <p:spPr/>
        <p:txBody>
          <a:bodyPr>
            <a:noAutofit/>
          </a:bodyPr>
          <a:lstStyle/>
          <a:p>
            <a:r>
              <a:rPr lang="en-US" sz="1400" dirty="0"/>
              <a:t>Analyze Trends in Ratings Over Time</a:t>
            </a:r>
            <a:br>
              <a:rPr lang="en-US" sz="1400" dirty="0"/>
            </a:br>
            <a:r>
              <a:rPr lang="en-US" sz="1400" dirty="0"/>
              <a:t> ● Create a line chart to visualize how the "NPS RATING" has changed over the years based on the "Checkout Date."(Note: You can extract the year from the checkout date before plotting, and you can utilize this information accordingly.) </a:t>
            </a:r>
            <a:br>
              <a:rPr lang="en-US" sz="1400" dirty="0"/>
            </a:br>
            <a:r>
              <a:rPr lang="en-US" sz="1400" dirty="0"/>
              <a:t>● Add a trend line to the chart to illustrate the overall direction of ratings over time. </a:t>
            </a:r>
            <a:br>
              <a:rPr lang="en-US" sz="1400" dirty="0"/>
            </a:br>
            <a:r>
              <a:rPr lang="en-US" sz="1400" dirty="0"/>
              <a:t>● What does the trend line indicate about guest satisfaction? Are there any noticeable increases or decreases in ratings during specific periods? What insights can you draw from this trend analysis</a:t>
            </a:r>
            <a:endParaRPr lang="en-IN" sz="1400" dirty="0"/>
          </a:p>
        </p:txBody>
      </p:sp>
      <p:sp>
        <p:nvSpPr>
          <p:cNvPr id="4" name="Content Placeholder 3">
            <a:extLst>
              <a:ext uri="{FF2B5EF4-FFF2-40B4-BE49-F238E27FC236}">
                <a16:creationId xmlns:a16="http://schemas.microsoft.com/office/drawing/2014/main" id="{347286D3-AEE0-FE96-30C5-4280BFCCAB69}"/>
              </a:ext>
            </a:extLst>
          </p:cNvPr>
          <p:cNvSpPr>
            <a:spLocks noGrp="1"/>
          </p:cNvSpPr>
          <p:nvPr>
            <p:ph sz="half" idx="2"/>
          </p:nvPr>
        </p:nvSpPr>
        <p:spPr/>
        <p:txBody>
          <a:bodyPr>
            <a:normAutofit fontScale="92500"/>
          </a:bodyPr>
          <a:lstStyle/>
          <a:p>
            <a:r>
              <a:rPr lang="en-US" dirty="0"/>
              <a:t>According to the trend line, NPS ratings barely changed between 2020 and 2022. </a:t>
            </a:r>
          </a:p>
          <a:p>
            <a:r>
              <a:rPr lang="en-US" dirty="0"/>
              <a:t>Overall visitor satisfaction has remained stable, with a minor gain from 2020 to 2021 and a slight fall in 2022. </a:t>
            </a:r>
          </a:p>
          <a:p>
            <a:r>
              <a:rPr lang="en-US" dirty="0"/>
              <a:t>The slight decline in 2022 might be worth keeping an eye on, but it doesn't point to a serious problem.</a:t>
            </a:r>
          </a:p>
          <a:p>
            <a:endParaRPr lang="en-IN" dirty="0"/>
          </a:p>
        </p:txBody>
      </p:sp>
      <p:graphicFrame>
        <p:nvGraphicFramePr>
          <p:cNvPr id="5" name="Content Placeholder 4">
            <a:extLst>
              <a:ext uri="{FF2B5EF4-FFF2-40B4-BE49-F238E27FC236}">
                <a16:creationId xmlns:a16="http://schemas.microsoft.com/office/drawing/2014/main" id="{47E83709-76D8-4650-8EDE-AEE1B02A8BBC}"/>
              </a:ext>
            </a:extLst>
          </p:cNvPr>
          <p:cNvGraphicFramePr>
            <a:graphicFrameLocks noGrp="1"/>
          </p:cNvGraphicFramePr>
          <p:nvPr>
            <p:ph sz="half" idx="1"/>
          </p:nvPr>
        </p:nvGraphicFramePr>
        <p:xfrm>
          <a:off x="838200" y="1825625"/>
          <a:ext cx="5181600" cy="435133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733085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48067-329B-216A-99AC-11C6A8D93551}"/>
              </a:ext>
            </a:extLst>
          </p:cNvPr>
          <p:cNvSpPr>
            <a:spLocks noGrp="1"/>
          </p:cNvSpPr>
          <p:nvPr>
            <p:ph type="title"/>
          </p:nvPr>
        </p:nvSpPr>
        <p:spPr/>
        <p:txBody>
          <a:bodyPr>
            <a:normAutofit fontScale="90000"/>
          </a:bodyPr>
          <a:lstStyle/>
          <a:p>
            <a:r>
              <a:rPr lang="en-US" sz="1600" dirty="0"/>
              <a:t>Analyze Feedback Quality by Rating Range</a:t>
            </a:r>
            <a:br>
              <a:rPr lang="en-US" sz="1600" dirty="0"/>
            </a:br>
            <a:r>
              <a:rPr lang="en-US" sz="1600" dirty="0"/>
              <a:t> ● Create a pivot table &amp; pivot chart to analyze the relationship between "Feedback Category" and "Rating Range.“</a:t>
            </a:r>
            <a:br>
              <a:rPr lang="en-US" sz="1600" dirty="0"/>
            </a:br>
            <a:r>
              <a:rPr lang="en-US" sz="1600" dirty="0"/>
              <a:t> ● How many feedback responses fall into each rating range (1-5) for different feedback categories (Staff, Room, Restaurant, Facility)? ● What trends or patterns can you identify from the feedback ratings across different categories?</a:t>
            </a:r>
            <a:endParaRPr lang="en-IN" sz="1600" dirty="0"/>
          </a:p>
        </p:txBody>
      </p:sp>
      <p:sp>
        <p:nvSpPr>
          <p:cNvPr id="4" name="Content Placeholder 3">
            <a:extLst>
              <a:ext uri="{FF2B5EF4-FFF2-40B4-BE49-F238E27FC236}">
                <a16:creationId xmlns:a16="http://schemas.microsoft.com/office/drawing/2014/main" id="{123F0D00-1845-E96B-A892-93B73B7D4CC1}"/>
              </a:ext>
            </a:extLst>
          </p:cNvPr>
          <p:cNvSpPr>
            <a:spLocks noGrp="1"/>
          </p:cNvSpPr>
          <p:nvPr>
            <p:ph sz="half" idx="2"/>
          </p:nvPr>
        </p:nvSpPr>
        <p:spPr/>
        <p:txBody>
          <a:bodyPr>
            <a:normAutofit lnSpcReduction="10000"/>
          </a:bodyPr>
          <a:lstStyle/>
          <a:p>
            <a:r>
              <a:rPr lang="en-US" dirty="0"/>
              <a:t>Staff and Room categories reflect strong customer satisfaction, with mostly high scores.</a:t>
            </a:r>
          </a:p>
          <a:p>
            <a:r>
              <a:rPr lang="en-US" dirty="0"/>
              <a:t>Restaurant experiences are problematic, receiving the most 1s and 2s.Facility ratings suggest mixed guest expectations, where improvements may standardize the experience.</a:t>
            </a:r>
            <a:endParaRPr lang="en-IN" dirty="0"/>
          </a:p>
        </p:txBody>
      </p:sp>
      <p:graphicFrame>
        <p:nvGraphicFramePr>
          <p:cNvPr id="5" name="Content Placeholder 4">
            <a:extLst>
              <a:ext uri="{FF2B5EF4-FFF2-40B4-BE49-F238E27FC236}">
                <a16:creationId xmlns:a16="http://schemas.microsoft.com/office/drawing/2014/main" id="{E967E8CF-B20C-4B85-AEA4-FC590B441E59}"/>
              </a:ext>
            </a:extLst>
          </p:cNvPr>
          <p:cNvGraphicFramePr>
            <a:graphicFrameLocks noGrp="1"/>
          </p:cNvGraphicFramePr>
          <p:nvPr>
            <p:ph sz="half" idx="1"/>
          </p:nvPr>
        </p:nvGraphicFramePr>
        <p:xfrm>
          <a:off x="838200" y="1825625"/>
          <a:ext cx="5181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68550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706B6E8-EED4-0ADF-CABF-4F490E32DF9F}"/>
              </a:ext>
            </a:extLst>
          </p:cNvPr>
          <p:cNvSpPr>
            <a:spLocks noGrp="1"/>
          </p:cNvSpPr>
          <p:nvPr>
            <p:ph type="title"/>
          </p:nvPr>
        </p:nvSpPr>
        <p:spPr/>
        <p:txBody>
          <a:bodyPr/>
          <a:lstStyle/>
          <a:p>
            <a:pPr algn="ctr"/>
            <a:r>
              <a:rPr lang="en-US" dirty="0"/>
              <a:t>Final Insights</a:t>
            </a:r>
            <a:endParaRPr lang="en-IN" dirty="0"/>
          </a:p>
        </p:txBody>
      </p:sp>
      <p:sp>
        <p:nvSpPr>
          <p:cNvPr id="6" name="Content Placeholder 5">
            <a:extLst>
              <a:ext uri="{FF2B5EF4-FFF2-40B4-BE49-F238E27FC236}">
                <a16:creationId xmlns:a16="http://schemas.microsoft.com/office/drawing/2014/main" id="{E011B3EC-B982-6DDE-FB78-3B1D53AB01AF}"/>
              </a:ext>
            </a:extLst>
          </p:cNvPr>
          <p:cNvSpPr>
            <a:spLocks noGrp="1"/>
          </p:cNvSpPr>
          <p:nvPr>
            <p:ph idx="1"/>
          </p:nvPr>
        </p:nvSpPr>
        <p:spPr/>
        <p:txBody>
          <a:bodyPr>
            <a:normAutofit fontScale="92500" lnSpcReduction="10000"/>
          </a:bodyPr>
          <a:lstStyle/>
          <a:p>
            <a:r>
              <a:rPr lang="en-US" dirty="0"/>
              <a:t>In terms of the overall guest experience, the hotel scores well, with high levels of satisfaction in the restaurant options, staff interactions, and facilities services. </a:t>
            </a:r>
          </a:p>
          <a:p>
            <a:r>
              <a:rPr lang="en-US" dirty="0"/>
              <a:t>However, the majority of complaints and detractor scores are generated by room-related services, particularly cleanliness and room service</a:t>
            </a:r>
          </a:p>
          <a:p>
            <a:r>
              <a:rPr lang="en-US" dirty="0"/>
              <a:t>With only a minor drop in 2022, trend analysis reveals steady NPS performance over time, indicating constant</a:t>
            </a:r>
          </a:p>
          <a:p>
            <a:r>
              <a:rPr lang="en-US" dirty="0"/>
              <a:t>The hotel can greatly increase overall guest happiness while continuing to build on its strengths in staff quality, food, and facilities by enhancing room service and housekeeping and resolving issues encountered during functions and events.</a:t>
            </a:r>
          </a:p>
          <a:p>
            <a:endParaRPr lang="en-IN" dirty="0"/>
          </a:p>
        </p:txBody>
      </p:sp>
    </p:spTree>
    <p:extLst>
      <p:ext uri="{BB962C8B-B14F-4D97-AF65-F5344CB8AC3E}">
        <p14:creationId xmlns:p14="http://schemas.microsoft.com/office/powerpoint/2010/main" val="2667153453"/>
      </p:ext>
    </p:extLst>
  </p:cSld>
  <p:clrMapOvr>
    <a:masterClrMapping/>
  </p:clrMapOvr>
</p:sld>
</file>

<file path=ppt/theme/theme1.xml><?xml version="1.0" encoding="utf-8"?>
<a:theme xmlns:a="http://schemas.openxmlformats.org/drawingml/2006/main" name="MinimalXOVTI">
  <a:themeElements>
    <a:clrScheme name="3D">
      <a:dk1>
        <a:sysClr val="windowText" lastClr="000000"/>
      </a:dk1>
      <a:lt1>
        <a:sysClr val="window" lastClr="FFFFFF"/>
      </a:lt1>
      <a:dk2>
        <a:srgbClr val="201449"/>
      </a:dk2>
      <a:lt2>
        <a:srgbClr val="F3F0E9"/>
      </a:lt2>
      <a:accent1>
        <a:srgbClr val="F900A0"/>
      </a:accent1>
      <a:accent2>
        <a:srgbClr val="4D4EE6"/>
      </a:accent2>
      <a:accent3>
        <a:srgbClr val="454B78"/>
      </a:accent3>
      <a:accent4>
        <a:srgbClr val="A3A3C1"/>
      </a:accent4>
      <a:accent5>
        <a:srgbClr val="7162FE"/>
      </a:accent5>
      <a:accent6>
        <a:srgbClr val="1EBE9B"/>
      </a:accent6>
      <a:hlink>
        <a:srgbClr val="F900A0"/>
      </a:hlink>
      <a:folHlink>
        <a:srgbClr val="954F72"/>
      </a:folHlink>
    </a:clrScheme>
    <a:fontScheme name="Custom 40">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nimalXOVTI" id="{DC540DBD-7FF5-4942-921A-CFF95ECB90AA}" vid="{E72E4198-D957-48FD-B88D-6DAFC89EAF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Minimal</Template>
  <TotalTime>114</TotalTime>
  <Words>1173</Words>
  <Application>Microsoft Office PowerPoint</Application>
  <PresentationFormat>Widescreen</PresentationFormat>
  <Paragraphs>92</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Courier New</vt:lpstr>
      <vt:lpstr>Open Sans</vt:lpstr>
      <vt:lpstr>Segoe UI</vt:lpstr>
      <vt:lpstr>Times New Roman</vt:lpstr>
      <vt:lpstr>MinimalXOVTI</vt:lpstr>
      <vt:lpstr>Mini-Project: Guest Feedback Data Analysis Using Excel</vt:lpstr>
      <vt:lpstr>Column Chart for Guest Purposes  ● Create a column chart to visualize the count of guests based on their "Purpose" (Business, Vacation, Function).  ● How many guests came for each purpose, and which purpose has the highest number of guests</vt:lpstr>
      <vt:lpstr>Pie chart for Gender  ● create a pie chart to visually represent the percentage distribution of gender within the dataset.  ● Which gender has a higher percentage</vt:lpstr>
      <vt:lpstr>Pie Chart for NPS Categories  ● Create a pie chart to show the proportion of guests in each "NPS CATEGORY" (Promoters, Passives, Detractors).  ● What percentage of guests fall into each NPS category? Which category has the largest proportion of guests</vt:lpstr>
      <vt:lpstr>Bar Chart for Overall Experience by Feedback Category  ● Create a bar chart to compare the average "Overall Experience" for each "Feedback Category" (Staff, Room, Restaurant, Facility).  ● Which feedback category has the highest average overall experience score? What insights can you gain from this comparison</vt:lpstr>
      <vt:lpstr>Pivot Table for Guest Purpose Count  ● Create a pivot table to count how many guests had each "Purpose" (Business, Vacation, Function).  ● What is the total count of guests for each purpose? Which purpose has the most guests</vt:lpstr>
      <vt:lpstr>Pivot Table for Average NPS Rating by Purpose  ● Create a pivot table to calculate the average "NPS RATING" for each guest "Purpose."  ● What is the average NPS Rating for each purpose? Which purpose shows the highest guest satisfaction</vt:lpstr>
      <vt:lpstr>Pivot Table for Overall Experience by Feedback Category  ● Create a pivot table to find the average "Overall Experience" for each "Feedback Category" (Staff, Room, Restaurant, Facility).  ● Which feedback category has the best overall experience rating? How do the categories compare</vt:lpstr>
      <vt:lpstr>Pivot Chart for NPS Ratings by Purpose  ● Using the pivot table from Question 5, create a pivot chart to visualize the average "NPS RATING" for each "Purpose.“  ● What can you learn from the pivot chart about NPS ratings based on the guest's purpose of stay?</vt:lpstr>
      <vt:lpstr>Analyze Trends in Ratings Over Time  ● Create a line chart to visualize how the "NPS RATING" has changed over the years based on the "Checkout Date."(Note: You can extract the year from the checkout date before plotting, and you can utilize this information accordingly.)  ● Add a trend line to the chart to illustrate the overall direction of ratings over time.  ● What does the trend line indicate about guest satisfaction? Are there any noticeable increases or decreases in ratings during specific periods? What insights can you draw from this trend analysis</vt:lpstr>
      <vt:lpstr>Analyze Feedback Quality by Rating Range  ● Create a pivot table &amp; pivot chart to analyze the relationship between "Feedback Category" and "Rating Range.“  ● How many feedback responses fall into each rating range (1-5) for different feedback categories (Staff, Room, Restaurant, Facility)? ● What trends or patterns can you identify from the feedback ratings across different categories?</vt:lpstr>
      <vt:lpstr>Final Insights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Siddhant Kumar</dc:creator>
  <cp:lastModifiedBy>Siddhant Kumar</cp:lastModifiedBy>
  <cp:revision>1</cp:revision>
  <dcterms:created xsi:type="dcterms:W3CDTF">2025-12-07T16:38:02Z</dcterms:created>
  <dcterms:modified xsi:type="dcterms:W3CDTF">2025-12-07T18:32:15Z</dcterms:modified>
</cp:coreProperties>
</file>